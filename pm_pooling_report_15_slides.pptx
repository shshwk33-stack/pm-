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01  |  배경·문제 정의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공유 PM은 이용이 끝나도 운영이 끝나지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공유 PM은 전동킥보드 등 소형 이동수단을 일정 지역에서 빌려 쓰는 서비스다. 이용자는 가까운 기기를 찾아 이동한 뒤 반납하지만, 운영자는 다음 이용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자가 쓸 수 있도록 배터리 상태와 기기 위치를 관리해야 한다. 배터리가 소모된 기기는 충전하거나 배터리를 교환해야 하므로, 이용자의 이동 뒤에는 사람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·차량·배터리가 움직이는 운영 업무가 이어진다. 본 연구는 이용자의 주행 경로가 아니라 배터리 관리를 수행하는 운영 차량의 물류 경로에 주목한다.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이동 서비스를 지속시키는 배터리 관리를 물류 문제로 보는 것이 연구의 출발점이다. 업체마다 충전·교환 방식은 다를 수 있으며, 모든 운영사가 PM 본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체를 수거한다는 시장 전체의 실태를 전제하지 않는다. 연구 범위는 정해진 배터리 서비스 수요의 회수·교환 운송이다.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PM 운영배경 문헌 [3] 및 문헌 검토자료 / 연구 범위 [D1]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01/15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295144"/>
            <a:ext cx="609904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공유 PM 서비스를 이어 주는 두 흐름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16352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2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67887"/>
                </a:solidFill>
                <a:latin typeface="Noto Sans CJK KR"/>
                <a:ea typeface="Noto Sans CJK KR"/>
              </a:rPr>
              <a:t>이용자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PM 선택·주행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54580" y="3328416"/>
            <a:ext cx="164592" cy="0"/>
          </a:xfrm>
          <a:prstGeom prst="line">
            <a:avLst/>
          </a:prstGeom>
          <a:ln w="21590">
            <a:solidFill>
              <a:srgbClr val="6678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42032" y="2816352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907792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67887"/>
                </a:solidFill>
                <a:latin typeface="Noto Sans CJK KR"/>
                <a:ea typeface="Noto Sans CJK KR"/>
              </a:rPr>
              <a:t>반납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273552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현장에 기기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9412" y="3328416"/>
            <a:ext cx="164591" cy="0"/>
          </a:xfrm>
          <a:prstGeom prst="line">
            <a:avLst/>
          </a:prstGeom>
          <a:ln w="21590">
            <a:solidFill>
              <a:srgbClr val="6678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626864" y="2816352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2907792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67887"/>
                </a:solidFill>
                <a:latin typeface="Noto Sans CJK KR"/>
                <a:ea typeface="Noto Sans CJK KR"/>
              </a:rPr>
              <a:t>다음 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3273552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서비스 재이용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42816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상태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08576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배터리 소모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54580" y="4663440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542032" y="4151376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4242816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현장 서비스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4608576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회수·교환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39412" y="4663440"/>
            <a:ext cx="164591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626864" y="4151376"/>
            <a:ext cx="1883664" cy="10241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4242816"/>
            <a:ext cx="1700784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운영 유지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4608576"/>
            <a:ext cx="1700784" cy="5120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다시 이용 준비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32120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513832"/>
            <a:ext cx="595274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이 연구가 다루는 이동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5916168"/>
            <a:ext cx="6035040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이용자의 PM 주행이 끝난 뒤, 운영 차량이 서비스 대상 기기를 방문한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다. 배터리 보충을 위한 차량 이동과 작업을 물류 의사결정으로 본다.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6016" y="2295144"/>
            <a:ext cx="71963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운영 업무와 연구 범위의 구분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67144" y="2770632"/>
            <a:ext cx="1170432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3" y="2825496"/>
            <a:ext cx="987552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구분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7575" y="2770632"/>
            <a:ext cx="2560320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9015" y="2825496"/>
            <a:ext cx="2377439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쉬운 설명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97896" y="2770632"/>
            <a:ext cx="3584448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89336" y="2825496"/>
            <a:ext cx="3401568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이 연구와의 관계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67144" y="3246120"/>
            <a:ext cx="1170432" cy="6949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3" y="3300984"/>
            <a:ext cx="987552" cy="5852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이용자 이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7575" y="3246120"/>
            <a:ext cx="2560320" cy="6949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5" y="3300984"/>
            <a:ext cx="2377439" cy="5852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PM을 타고 목적지까지 이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동한다.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97896" y="3246120"/>
            <a:ext cx="3584448" cy="6949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89336" y="3300984"/>
            <a:ext cx="3401568" cy="5852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이용자의 이동 경로는 최적화하지 않는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67144" y="3941063"/>
            <a:ext cx="1170432" cy="74066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58583" y="3995927"/>
            <a:ext cx="987552" cy="6309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기기 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7575" y="3941063"/>
            <a:ext cx="2560320" cy="74066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015" y="3995927"/>
            <a:ext cx="2377439" cy="6309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기기의 상태를 확인하고 필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요하면 회수·수리한다.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97896" y="3941063"/>
            <a:ext cx="3584448" cy="74066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89336" y="3995927"/>
            <a:ext cx="3401568" cy="6309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모든 정비 업무를 함께 계산하는 연구는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아니다.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67144" y="4681727"/>
            <a:ext cx="1170432" cy="85039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58583" y="4736591"/>
            <a:ext cx="987552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배터리 관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7575" y="4681727"/>
            <a:ext cx="2560320" cy="85039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29015" y="4736591"/>
            <a:ext cx="2377439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소모된 배터리를 충전하거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나 현장에서 교환한다.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97896" y="4681727"/>
            <a:ext cx="3584448" cy="85039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89336" y="4736591"/>
            <a:ext cx="3401568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서비스 대상으로 정한 PM의 회수·교환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운송을 비교한다.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67144" y="5532119"/>
            <a:ext cx="1170432" cy="85039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58583" y="5586983"/>
            <a:ext cx="987552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운영 차량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이동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37575" y="5532119"/>
            <a:ext cx="2560320" cy="85039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29015" y="5586983"/>
            <a:ext cx="2377439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필요한 물건과 작업자를 싣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고 여러 현장을 방문한다.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97896" y="5532119"/>
            <a:ext cx="3584448" cy="85039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89336" y="5586983"/>
            <a:ext cx="3401568" cy="7406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방문 순서, 적재용량, 출발·복귀 회차를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계산한다.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02  |  배경·문제 정의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배터리 관리는 현장과 거점을 연결하는 물류 업무다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배터리 관리에서는 “어디에 있는 몇 대를, 무엇을 싣고 방문할 것인가”를 결정해야 한다. 현장에 흩어진 PM을 처리하려면 차량이 여러 장소를 방문하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고, 필요한 물건을 적재하며, 기기별 작업을 수행해야 한다. 본체를 거점으로 가져오는 방식과 충전 배터리를 현장에 보내는 방식은 이동하는 물건과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작업 흐름이 다르다. 따라서 배터리 관리의 효율을 이해하려면 수요 위치·운송대상·차량 용량·현장 작업을 연결해서 보아야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수요 1단위는 서비스 대상으로 선택된 PM 1대다. 본 연구의 ‘회수’는 사용 중인 정상 배터리를 충전·재사용하기 위한 회수이며 폐배터리 재활용 연구가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아니다. 본체 수거 이후의 충전·재배치와 배터리 충전 일정은 계산하지 않으므로, 전체 서비스 주기의 비용을 완전히 비교한 결과와는 구분한다.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업무 정의·모델 종료상태·사전 준비 가정 [D1·D3]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02/15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2257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04288"/>
            <a:ext cx="608076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현장과 Depot 사이에서 움직이는 물건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16352"/>
            <a:ext cx="2926080" cy="1033271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2"/>
            <a:ext cx="274320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67887"/>
                </a:solidFill>
                <a:latin typeface="Noto Sans CJK KR"/>
                <a:ea typeface="Noto Sans CJK KR"/>
              </a:rPr>
              <a:t>본체 수거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2743200" cy="521207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현장 PM 상차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96996" y="3332988"/>
            <a:ext cx="164592" cy="0"/>
          </a:xfrm>
          <a:prstGeom prst="line">
            <a:avLst/>
          </a:prstGeom>
          <a:ln w="21590">
            <a:solidFill>
              <a:srgbClr val="6678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84448" y="2816352"/>
            <a:ext cx="2926080" cy="1033271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2907792"/>
            <a:ext cx="274320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67887"/>
                </a:solidFill>
                <a:latin typeface="Noto Sans CJK KR"/>
                <a:ea typeface="Noto Sans CJK KR"/>
              </a:rPr>
              <a:t>돌아오는 물건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3273552"/>
            <a:ext cx="2743200" cy="521207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PM 본체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9663"/>
            <a:ext cx="2926080" cy="1033271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61103"/>
            <a:ext cx="274320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현장 교환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2743200" cy="521207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충전 배터리 제공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96996" y="4686300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84448" y="4169663"/>
            <a:ext cx="2926080" cy="1033271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61103"/>
            <a:ext cx="274320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돌아오는 물건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4626864"/>
            <a:ext cx="2743200" cy="521207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소모 배터리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41264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5522976"/>
            <a:ext cx="595274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공통 의사결정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925312"/>
            <a:ext cx="6035040" cy="8229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Depot은 차량의 출발·복귀 거점이다. 어디의 몇 대를 어떤 순서로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처리할 것인가? 수요 1단위는 PM 1대이며 방문 지점 수와 처리 대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수는 다르다.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67144" y="232257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6016" y="2304288"/>
            <a:ext cx="71963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두 업무의 물류 흐름과 종료 상태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67144" y="2770632"/>
            <a:ext cx="1463040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58583" y="2825496"/>
            <a:ext cx="1280160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0183" y="2770632"/>
            <a:ext cx="2852928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2825496"/>
            <a:ext cx="2670048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PM 본체 수거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83112" y="2770632"/>
            <a:ext cx="2999232" cy="47548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74552" y="2825496"/>
            <a:ext cx="2816351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현장 배터리 교환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3246120"/>
            <a:ext cx="1463040" cy="7955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58583" y="3300984"/>
            <a:ext cx="1280160" cy="68580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현장으로 가는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차량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0183" y="3246120"/>
            <a:ext cx="2852928" cy="7955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624" y="3300984"/>
            <a:ext cx="2670048" cy="68580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PM을 회수할 수 있는 적재공간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을 준비한다.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83112" y="3246120"/>
            <a:ext cx="2999232" cy="79552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74552" y="3300984"/>
            <a:ext cx="2816351" cy="68580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대상 운영사에 맞는 충전 배터리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를 준비한다.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67144" y="4041648"/>
            <a:ext cx="1463040" cy="80467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3" y="4096511"/>
            <a:ext cx="1280160" cy="6949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현장 작업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4041648"/>
            <a:ext cx="2852928" cy="80467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096511"/>
            <a:ext cx="2670048" cy="6949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서비스 대상 PM 본체를 싣는다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83112" y="4041648"/>
            <a:ext cx="2999232" cy="80467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74552" y="4096511"/>
            <a:ext cx="2816351" cy="6949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충전 배터리를 제공하고 소모 배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터리를 회수한다.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67144" y="4846320"/>
            <a:ext cx="1463040" cy="60350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8583" y="4901183"/>
            <a:ext cx="1280160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돌아오는 물건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0183" y="4846320"/>
            <a:ext cx="2852928" cy="60350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4901183"/>
            <a:ext cx="2670048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회수한 PM 본체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183112" y="4846320"/>
            <a:ext cx="2999232" cy="60350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74552" y="4901183"/>
            <a:ext cx="2816351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회수한 소모 배터리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67144" y="5449824"/>
            <a:ext cx="1463040" cy="8138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58583" y="5504688"/>
            <a:ext cx="1280160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계산이 끝나는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상태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0183" y="5449824"/>
            <a:ext cx="2852928" cy="8138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1624" y="5504688"/>
            <a:ext cx="2670048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대상 PM이 Depot에 수거된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상태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183112" y="5449824"/>
            <a:ext cx="2999232" cy="8138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74552" y="5504688"/>
            <a:ext cx="2816351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대상 PM의 배터리를 현장에서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교환한 상태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03  |  배경·문제 정의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같은 지역의 수요를 따로 계획하면 중복 운송이 생길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여러 운영사의 PM이 같은 지역에 있어도 각 운영사가 자기 수요만 따로 계획하면 차량은 각각 출발하고 복귀한다. 두 운영사의 방문 장소가 같거나 가까울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때는 이미 방문하는 곳을 다른 차량이 다시 방문하는 운송이 생길 수 있다. 한 운영사의 수요가 적더라도 독립적으로 업무를 수행하려면 별도 운송이 필요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할 수 있다는 점도 중요하다. 공동운송은 이런 공간적 중첩과 남는 적재공간을 활용해 각자의 업무는 유지하면서 차량 이동을 함께 계획하는 선택지다.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이는 비교를 위한 운영구조 설명이며 현재 모든 업체의 실제 경로가 비효율적이라고 단정하는 그림이 아니다. 효과의 크기는 수요 구성, 공간 중첩, 용량과 거점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조건에 따라 달라진다. 또한 회차는 차량 대수가 아니다. 차량 한 대가 여러 회차를 수행할 수 있으므로 회차 감소를 곧바로 차량·기사 감축으로 해석하지 않는다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분리/공동 운송 개념 / 협력 차량경로 문헌 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03/15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2257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04288"/>
            <a:ext cx="608076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분리 운송과 공동 계획의 개념 비교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68680" y="3163824"/>
            <a:ext cx="1124712" cy="914400"/>
          </a:xfrm>
          <a:prstGeom prst="line">
            <a:avLst/>
          </a:prstGeom>
          <a:ln w="15875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93392" y="3163824"/>
            <a:ext cx="2340864" cy="411480"/>
          </a:xfrm>
          <a:prstGeom prst="line">
            <a:avLst/>
          </a:prstGeom>
          <a:ln w="15875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511296" y="3575304"/>
            <a:ext cx="822960" cy="1234440"/>
          </a:xfrm>
          <a:prstGeom prst="line">
            <a:avLst/>
          </a:prstGeom>
          <a:ln w="15875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68680" y="4078224"/>
            <a:ext cx="2642616" cy="731520"/>
          </a:xfrm>
          <a:prstGeom prst="line">
            <a:avLst/>
          </a:prstGeom>
          <a:ln w="15875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04671" y="4014215"/>
            <a:ext cx="137160" cy="137160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29384" y="3099816"/>
            <a:ext cx="137160" cy="137160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3511296"/>
            <a:ext cx="137160" cy="137160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47288" y="4745736"/>
            <a:ext cx="137160" cy="137160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051560" y="3163824"/>
            <a:ext cx="1124712" cy="914400"/>
          </a:xfrm>
          <a:prstGeom prst="line">
            <a:avLst/>
          </a:prstGeom>
          <a:ln w="15875">
            <a:solidFill>
              <a:srgbClr val="B76B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76272" y="3163824"/>
            <a:ext cx="2340864" cy="411480"/>
          </a:xfrm>
          <a:prstGeom prst="line">
            <a:avLst/>
          </a:prstGeom>
          <a:ln w="15875">
            <a:solidFill>
              <a:srgbClr val="B76B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694176" y="3575304"/>
            <a:ext cx="822960" cy="1234440"/>
          </a:xfrm>
          <a:prstGeom prst="line">
            <a:avLst/>
          </a:prstGeom>
          <a:ln w="15875">
            <a:solidFill>
              <a:srgbClr val="B76B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51560" y="4078224"/>
            <a:ext cx="2642616" cy="731520"/>
          </a:xfrm>
          <a:prstGeom prst="line">
            <a:avLst/>
          </a:prstGeom>
          <a:ln w="15875">
            <a:solidFill>
              <a:srgbClr val="B76B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87551" y="4014215"/>
            <a:ext cx="137160" cy="137160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12264" y="3099816"/>
            <a:ext cx="137160" cy="137160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53128" y="3511296"/>
            <a:ext cx="137160" cy="137160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30168" y="4745736"/>
            <a:ext cx="137160" cy="137160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4352544"/>
            <a:ext cx="1280160" cy="3657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17344C"/>
                </a:solidFill>
                <a:latin typeface="Noto Sans CJK KR"/>
                <a:ea typeface="Noto Sans CJK KR"/>
              </a:rPr>
              <a:t>Depot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779776"/>
            <a:ext cx="146304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공유 지점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1336" y="3913632"/>
            <a:ext cx="192024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공유 지점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5148072"/>
            <a:ext cx="192024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공유 지점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5733288"/>
            <a:ext cx="5724144" cy="7223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남색·주황색은 운영사별 별도 왕복을 뜻한다. 공동 계획은 이미 방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문하는 지점의 다른 운영사 작업을 함께 처리할 기회를 평가한다.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28816"/>
            <a:ext cx="5852160" cy="2011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67887"/>
                </a:solidFill>
                <a:latin typeface="Noto Sans CJK KR"/>
                <a:ea typeface="Noto Sans CJK KR"/>
              </a:rPr>
              <a:t>운영 구조를 설명하는 개념도이며 실제 관측 경로는 11장에서 제시한다.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2331720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2313432"/>
            <a:ext cx="715975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① 방문 장소의 중첩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5" y="2715768"/>
            <a:ext cx="7242048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같은 서비스 지점에 여러 운영사의 PM이 있으면, 한 번 방문해 각 운영사의 작업을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처리할 수 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3401568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59" y="3383279"/>
            <a:ext cx="715975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② 가까운 수요의 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5" y="3785615"/>
            <a:ext cx="7242048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완전히 같은 장소가 아니어도 가까운 수요를 연결하면 별도 이동을 줄일 여지가 있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471415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59" y="4453127"/>
            <a:ext cx="715975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③ 회차별 적재 여유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5" y="4855464"/>
            <a:ext cx="7242048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기존 회차에 다른 운영사의 배터리를 함께 실을 공간이 있어야 공동 운송이 가능하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5541263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9" y="5522975"/>
            <a:ext cx="715975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④ 출발·복귀의 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5" y="5925312"/>
            <a:ext cx="7242048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개별 수요가 작아도 운영사별로 반복되는 Depot 왕복이 있다면 통합의 차이가 생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길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04  |  배경·문제 정의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첫 번째 변화는 본체 대신 배터리를 운송하는 것이다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공동운송을 논하기 전에, 무엇을 운송하는지부터 구분해야 한다. PM 본체를 수거하면 차량에 본체를 실어야 하지만, 현장 배터리 교환에서는 필요한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배터리를 싣고 각 기기를 방문한다. 운송대상이 바뀌면 적재 방식과 회차 조건, 현장 작업 및 종료상태도 함께 달라진다. 본 연구는 이를 운송대상 전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환 효과로 정의하고, 운영사 간 통합 효과와 분리해서 평가한다.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263개는 연구의 중량 가정 1,000kg을 배터리당 3.8kg으로 나눈 뒤 내림한 이론적 상한이다. 총중량이 999.4kg이므로 랙·포장·부피를 포함한 실차 적재량</a:t>
            </a:r>
          </a:p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344C"/>
                </a:solidFill>
                <a:latin typeface="Noto Sans CJK KR"/>
                <a:ea typeface="Noto Sans CJK KR"/>
              </a:rPr>
              <a:t>은 검증되지 않았다. PM 6대도 적재 배치에 따른 모형 설정이다. A→B의 차이는 이런 용량·작업 가정 아래 계산한 결과이며 순수 Pooling 효과가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A/B 정의·적재 및 작업시간 설정 [D1·D3]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04/15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608076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A → B: 운영사는 분리, 운송대상은 전환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944721"/>
            <a:ext cx="168249" cy="168249"/>
          </a:xfrm>
          <a:prstGeom prst="ellipse">
            <a:avLst/>
          </a:prstGeom>
          <a:solidFill>
            <a:srgbClr val="667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97049" y="3944721"/>
            <a:ext cx="168249" cy="168249"/>
          </a:xfrm>
          <a:prstGeom prst="ellipse">
            <a:avLst/>
          </a:prstGeom>
          <a:solidFill>
            <a:srgbClr val="667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88501" y="4012021"/>
            <a:ext cx="984260" cy="0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778325" y="3145536"/>
            <a:ext cx="260787" cy="841248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93250" y="3145536"/>
            <a:ext cx="395387" cy="0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688336" y="3944721"/>
            <a:ext cx="168249" cy="168249"/>
          </a:xfrm>
          <a:prstGeom prst="ellipse">
            <a:avLst/>
          </a:prstGeom>
          <a:solidFill>
            <a:srgbClr val="667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7833" y="3944721"/>
            <a:ext cx="168249" cy="168249"/>
          </a:xfrm>
          <a:prstGeom prst="ellipse">
            <a:avLst/>
          </a:prstGeom>
          <a:solidFill>
            <a:srgbClr val="667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789285" y="4012021"/>
            <a:ext cx="984260" cy="0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479109" y="3145536"/>
            <a:ext cx="260787" cy="841248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4034" y="3145536"/>
            <a:ext cx="395387" cy="0"/>
          </a:xfrm>
          <a:prstGeom prst="line">
            <a:avLst/>
          </a:prstGeom>
          <a:ln w="38100">
            <a:solidFill>
              <a:srgbClr val="667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4379976"/>
            <a:ext cx="231343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324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667887"/>
                </a:solidFill>
                <a:latin typeface="Noto Sans CJK KR"/>
                <a:ea typeface="Noto Sans CJK KR"/>
              </a:rPr>
              <a:t>A  PM 본체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8496" y="3227832"/>
            <a:ext cx="365760" cy="570585"/>
          </a:xfrm>
          <a:prstGeom prst="rect">
            <a:avLst/>
          </a:prstGeom>
          <a:solidFill>
            <a:srgbClr val="FFFFFF"/>
          </a:solidFill>
          <a:ln w="8255">
            <a:solidFill>
              <a:srgbClr val="17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78224" y="3176625"/>
            <a:ext cx="146304" cy="51206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2387" y="3483863"/>
            <a:ext cx="277977" cy="263347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7992" y="3227832"/>
            <a:ext cx="365760" cy="570585"/>
          </a:xfrm>
          <a:prstGeom prst="rect">
            <a:avLst/>
          </a:prstGeom>
          <a:solidFill>
            <a:srgbClr val="FFFFFF"/>
          </a:solidFill>
          <a:ln w="8255">
            <a:solidFill>
              <a:srgbClr val="17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3176625"/>
            <a:ext cx="146304" cy="51206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51883" y="3483863"/>
            <a:ext cx="277977" cy="263347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47488" y="3227832"/>
            <a:ext cx="365760" cy="570585"/>
          </a:xfrm>
          <a:prstGeom prst="rect">
            <a:avLst/>
          </a:prstGeom>
          <a:solidFill>
            <a:srgbClr val="FFFFFF"/>
          </a:solidFill>
          <a:ln w="8255">
            <a:solidFill>
              <a:srgbClr val="17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57216" y="3176625"/>
            <a:ext cx="146304" cy="51206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91379" y="3483863"/>
            <a:ext cx="277977" cy="263347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86983" y="3227832"/>
            <a:ext cx="365760" cy="570585"/>
          </a:xfrm>
          <a:prstGeom prst="rect">
            <a:avLst/>
          </a:prstGeom>
          <a:solidFill>
            <a:srgbClr val="FFFFFF"/>
          </a:solidFill>
          <a:ln w="8255">
            <a:solidFill>
              <a:srgbClr val="17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712" y="3176625"/>
            <a:ext cx="146304" cy="51206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30875" y="3483863"/>
            <a:ext cx="277977" cy="263347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3048" y="4379976"/>
            <a:ext cx="246888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324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17344C"/>
                </a:solidFill>
                <a:latin typeface="Noto Sans CJK KR"/>
                <a:ea typeface="Noto Sans CJK KR"/>
              </a:rPr>
              <a:t>B  Battery-only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72384" y="4187952"/>
            <a:ext cx="658368" cy="0"/>
          </a:xfrm>
          <a:prstGeom prst="line">
            <a:avLst/>
          </a:prstGeom>
          <a:ln w="26670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66344" y="497433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4956048"/>
            <a:ext cx="592531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적재용량 숫자를 읽는 방법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5358384"/>
            <a:ext cx="6007608" cy="12618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A는 PM 6대/회차, B/C는 배터리 263개/회차라는 입력으로 계산한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다. 263개는 1,000kg ÷ 3.8kg을 내림한 값이며 총중량은 999.4kg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이다. 포장·랙·부피와 여유중량을 포함한 실차 적재능력은 확인되</a:t>
            </a:r>
          </a:p>
          <a:p>
            <a:pPr algn="l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17344C"/>
                </a:solidFill>
                <a:latin typeface="Noto Sans CJK KR"/>
                <a:ea typeface="Noto Sans CJK KR"/>
              </a:rPr>
              <a:t>지 않았다.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67144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2295144"/>
            <a:ext cx="71963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운송대상 전환에서 달라지는 조건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67144" y="2770632"/>
            <a:ext cx="1316736" cy="521207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58583" y="2825496"/>
            <a:ext cx="1133856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비교 항목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2770632"/>
            <a:ext cx="2926080" cy="521207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19" y="2825496"/>
            <a:ext cx="2743200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A: 운영사별 PM 본체 수거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09959" y="2770632"/>
            <a:ext cx="3072384" cy="521207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01399" y="2825496"/>
            <a:ext cx="2889503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B: 운영사별 Battery-only 교환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67144" y="3291839"/>
            <a:ext cx="1316736" cy="5303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58583" y="3346703"/>
            <a:ext cx="1133856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옮기는 대상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3291839"/>
            <a:ext cx="2926080" cy="5303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9" y="3346703"/>
            <a:ext cx="2743200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PM 본체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09959" y="3291839"/>
            <a:ext cx="3072384" cy="5303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01399" y="3346703"/>
            <a:ext cx="2889503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종류별 충전·소모 배터리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3822191"/>
            <a:ext cx="1316736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58583" y="3877055"/>
            <a:ext cx="1133856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계획 단위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3822191"/>
            <a:ext cx="292608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19" y="3877055"/>
            <a:ext cx="2743200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운영사별 독립 경로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09959" y="3822191"/>
            <a:ext cx="3072384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01399" y="3877055"/>
            <a:ext cx="2889503" cy="420623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운영사별 독립 경로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67144" y="4352544"/>
            <a:ext cx="1316736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58583" y="4407407"/>
            <a:ext cx="1133856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현장 작업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4352544"/>
            <a:ext cx="2926080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19" y="4407407"/>
            <a:ext cx="2743200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PM 상차 후 거점으로 운송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09959" y="4352544"/>
            <a:ext cx="3072384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01399" y="4407407"/>
            <a:ext cx="2889503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현장에서 배터리 교환 및 회수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67144" y="5111496"/>
            <a:ext cx="1316736" cy="60350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58583" y="5166359"/>
            <a:ext cx="1133856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65" b="0">
                <a:solidFill>
                  <a:srgbClr val="17344C"/>
                </a:solidFill>
                <a:latin typeface="Noto Sans CJK KR"/>
                <a:ea typeface="Noto Sans CJK KR"/>
              </a:rPr>
              <a:t>모형 적재용</a:t>
            </a:r>
          </a:p>
          <a:p>
            <a:pPr algn="l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65" b="0">
                <a:solidFill>
                  <a:srgbClr val="17344C"/>
                </a:solidFill>
                <a:latin typeface="Noto Sans CJK KR"/>
                <a:ea typeface="Noto Sans CJK KR"/>
              </a:rPr>
              <a:t>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79" y="5111496"/>
            <a:ext cx="2926080" cy="60350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19" y="5166359"/>
            <a:ext cx="2743200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PM 6대/회차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109959" y="5111496"/>
            <a:ext cx="3072384" cy="60350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01399" y="5166359"/>
            <a:ext cx="2889503" cy="4937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배터리 263개/회차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67144" y="5715000"/>
            <a:ext cx="1316736" cy="7772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58583" y="5769864"/>
            <a:ext cx="1133856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비교의 의미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83879" y="5715000"/>
            <a:ext cx="2926080" cy="7772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19" y="5769864"/>
            <a:ext cx="2743200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기준이 되는 본체 수거 방식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09959" y="5715000"/>
            <a:ext cx="3072384" cy="7772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01399" y="5769864"/>
            <a:ext cx="2889503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운송대상·처리방식을 바꾼 방식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05  |  연구 발전·시스템 제안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기존 SCM 아이디어를 효과 분리와 조건 검증으로 발전시켰다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이번 연구의 출발점은 2025 SCM 발표에서 제안한 다중 운영사 배터리 Pooling이다. 기존작에는 배터리 표준화·공동사용과 제3자 운영 개념뿐 아니라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수리모형, 지도 경로 사례, AnyLogic 화면도 있었다. 이번에는 그 아이디어를 계승하면서 배터리 종류를 유지한 공동운송의 효과를 비교·검증할 수 있는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44C"/>
                </a:solidFill>
                <a:latin typeface="Noto Sans CJK KR"/>
                <a:ea typeface="Noto Sans CJK KR"/>
              </a:rPr>
              <a:t>범위로 구체화했다. 새로운 기여는 공동물류의 최초 제안이 아니라 어떤 변화가 효과를 만들었는지 분리하고, 결과가 성립하는 조건을 확인한 점이다.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기존 수상작의 기여를 인정하고, 기존작·비교자료를 함께 제공한다. 과거의 업무효율 기대치와 이번 거리절감률은 대상·지역·지표가 달라 직접 성능 비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교를 하지 않는다. 확인한 기존 제출 PPT의 범위에서 차이를 설명하며, 최초 구현이나 모든 선행연구에 없는 개념이라고 주장하지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기존 SCM 9–20장 [P1] / 연구자료 [D1–D4] / 문헌 [1–3]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05/15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135971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기존 수상작을 계승한 부분과 이번에 구체화한 부분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743200"/>
            <a:ext cx="1785457" cy="43891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798064"/>
            <a:ext cx="1602577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89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3513" y="2743200"/>
            <a:ext cx="5493715" cy="43891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4953" y="2798064"/>
            <a:ext cx="5310835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89" b="1">
                <a:solidFill>
                  <a:srgbClr val="FFFFFF"/>
                </a:solidFill>
                <a:latin typeface="Noto Sans CJK KR"/>
                <a:ea typeface="Noto Sans CJK KR"/>
              </a:rPr>
              <a:t>기존 SCM 발표에서 확인된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7228" y="2743200"/>
            <a:ext cx="6455115" cy="43891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668" y="2798064"/>
            <a:ext cx="6272235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89" b="1">
                <a:solidFill>
                  <a:srgbClr val="FFFFFF"/>
                </a:solidFill>
                <a:latin typeface="Noto Sans CJK KR"/>
                <a:ea typeface="Noto Sans CJK KR"/>
              </a:rPr>
              <a:t>이번 동결 연구의 발전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3182112"/>
            <a:ext cx="1785457" cy="51206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3236976"/>
            <a:ext cx="1602577" cy="4023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비교 목적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3513" y="3182112"/>
            <a:ext cx="5493715" cy="51206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4953" y="3236976"/>
            <a:ext cx="5310835" cy="4023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공동운영 가능성과 효율 기대 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7228" y="3182112"/>
            <a:ext cx="6455115" cy="51206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668" y="3236976"/>
            <a:ext cx="6272235" cy="4023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A/B/C로 운송대상 전환과 통합 효과 분리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3694176"/>
            <a:ext cx="1785457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3749039"/>
            <a:ext cx="1602577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계산 근거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33513" y="3694176"/>
            <a:ext cx="5493715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4953" y="3749039"/>
            <a:ext cx="53108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마포구 지도와 일부 경로 사례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7228" y="3694176"/>
            <a:ext cx="6455115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668" y="3749039"/>
            <a:ext cx="62722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동일한 세종시 수요·노드·방향별 도로 OD 연결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" y="4215384"/>
            <a:ext cx="1785457" cy="521207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4270248"/>
            <a:ext cx="1602577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조건 검토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3513" y="4215384"/>
            <a:ext cx="5493715" cy="521207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4953" y="4270248"/>
            <a:ext cx="53108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제출 PPT에 민감도 결과표가 없음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7228" y="4215384"/>
            <a:ext cx="6455115" cy="521207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668" y="4270248"/>
            <a:ext cx="62722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운영사 소속·구성·혼합과 용량·탐색시간 검토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" y="4736592"/>
            <a:ext cx="1785457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4791456"/>
            <a:ext cx="1602577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결과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33513" y="4736592"/>
            <a:ext cx="5493715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4953" y="4791456"/>
            <a:ext cx="53108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지도·모형·시뮬레이션 화면 제시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7228" y="4736592"/>
            <a:ext cx="6455115" cy="521207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668" y="4791456"/>
            <a:ext cx="6272235" cy="411479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수요·용량·거리·시간·배터리 수량 추적 및 검산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" y="5294375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276088"/>
            <a:ext cx="135971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선행연구의 흐름과 이번 연구의 위치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" y="5687568"/>
            <a:ext cx="4578095" cy="35661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" y="5710428"/>
            <a:ext cx="4395215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FFFF"/>
                </a:solidFill>
                <a:latin typeface="Noto Sans CJK KR"/>
                <a:ea typeface="Noto Sans CJK KR"/>
              </a:rPr>
              <a:t>차량경로계획 [1]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6151" y="5687568"/>
            <a:ext cx="4578095" cy="35661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17591" y="5710428"/>
            <a:ext cx="4395215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FFFF"/>
                </a:solidFill>
                <a:latin typeface="Noto Sans CJK KR"/>
                <a:ea typeface="Noto Sans CJK KR"/>
              </a:rPr>
              <a:t>협력 운송 [2]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4247" y="5687568"/>
            <a:ext cx="4578095" cy="35661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5687" y="5710428"/>
            <a:ext cx="4395215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FFFF"/>
                </a:solidFill>
                <a:latin typeface="Noto Sans CJK KR"/>
                <a:ea typeface="Noto Sans CJK KR"/>
              </a:rPr>
              <a:t>공유 PM 운영 [3]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" y="6044183"/>
            <a:ext cx="4578095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6099047"/>
            <a:ext cx="4395215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Dantzig·Ramser(1959)</a:t>
            </a:r>
          </a:p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여러 수요 지점의 방문 경로계획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6151" y="6044183"/>
            <a:ext cx="4578095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7591" y="6099047"/>
            <a:ext cx="4395215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Gansterer·Hartl(2018)</a:t>
            </a:r>
          </a:p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여러 사업자의 요청을 공동으로 계획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4247" y="6044183"/>
            <a:ext cx="4578095" cy="7589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5687" y="6099047"/>
            <a:ext cx="4395215" cy="6492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Lee 등(2024)</a:t>
            </a:r>
          </a:p>
          <a:p>
            <a:pPr algn="l">
              <a:lnSpc>
                <a:spcPts val="193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배터리 교환·재배치·작업자 경로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06  |  연구 발전·시스템 제안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배터리 종류는 유지하고, 운송은 함께 계획한다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이번 연구에서 Pooling은 여러 운영사의 배터리를 한 운송체계에서 처리하는 공동물류 방식이다. 운영사별 PM과 배터리 종류는 유지하고, 필요한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종류의 배터리를 차량에 함께 준비한다. 차량은 통합된 방문계획에 따라 움직이며 각 PM에는 해당 운영사에 맞는 배터리만 교환한다. 따라서 공유하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는 것은 배터리의 상호장착이 아니라 차량 운송·적재공간·방문 경로의 계획이다.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기존 SCM의 표준화·공동사용 구상을 공동운송 효과가 검증 가능한 형태로 구체화했다. 실제 배터리 규격 통일이나 운영사 간 호환성을 실증한 결과는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아니다. 준비재고, 작업권한, 안전한 분리보관과 계약·책임은 실제 적용 시 확인할 조건이며 이번 최적화의 계산대상은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Pooling 범위·종류별 배터리 보존 [D1·D3]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06/15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608990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공동 차량에서 종류별로 구분하는 배터리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2106777" cy="704088"/>
          </a:xfrm>
          <a:prstGeom prst="rect">
            <a:avLst/>
          </a:prstGeom>
          <a:solidFill>
            <a:srgbClr val="FFFFFF"/>
          </a:solidFill>
          <a:ln w="825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21177" y="4050792"/>
            <a:ext cx="819302" cy="493776"/>
          </a:xfrm>
          <a:prstGeom prst="rect">
            <a:avLst/>
          </a:prstGeom>
          <a:solidFill>
            <a:srgbClr val="FFFFFF"/>
          </a:solidFill>
          <a:ln w="825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4462272"/>
            <a:ext cx="256032" cy="256032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3785" y="4462272"/>
            <a:ext cx="256032" cy="256032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1016" y="3118104"/>
            <a:ext cx="342900" cy="534924"/>
          </a:xfrm>
          <a:prstGeom prst="rect">
            <a:avLst/>
          </a:prstGeom>
          <a:solidFill>
            <a:srgbClr val="FFFFFF"/>
          </a:solidFill>
          <a:ln w="8255">
            <a:solidFill>
              <a:srgbClr val="17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3886" y="3070098"/>
            <a:ext cx="137160" cy="48006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2163" y="3358134"/>
            <a:ext cx="260604" cy="246888"/>
          </a:xfrm>
          <a:prstGeom prst="rect">
            <a:avLst/>
          </a:prstGeom>
          <a:solidFill>
            <a:srgbClr val="17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02536" y="3118104"/>
            <a:ext cx="342900" cy="534924"/>
          </a:xfrm>
          <a:prstGeom prst="rect">
            <a:avLst/>
          </a:prstGeom>
          <a:solidFill>
            <a:srgbClr val="FFFFFF"/>
          </a:solidFill>
          <a:ln w="8255">
            <a:solidFill>
              <a:srgbClr val="B7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5406" y="3070098"/>
            <a:ext cx="137160" cy="48006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43684" y="3358134"/>
            <a:ext cx="260604" cy="246888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36008" y="3525926"/>
            <a:ext cx="124358" cy="124358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82158" y="3525926"/>
            <a:ext cx="124358" cy="124358"/>
          </a:xfrm>
          <a:prstGeom prst="ellipse">
            <a:avLst/>
          </a:prstGeom>
          <a:solidFill>
            <a:srgbClr val="17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710623" y="3575669"/>
            <a:ext cx="727496" cy="0"/>
          </a:xfrm>
          <a:prstGeom prst="line">
            <a:avLst/>
          </a:prstGeom>
          <a:ln w="38100">
            <a:solidFill>
              <a:srgbClr val="173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220492" y="2935224"/>
            <a:ext cx="192756" cy="621792"/>
          </a:xfrm>
          <a:prstGeom prst="line">
            <a:avLst/>
          </a:prstGeom>
          <a:ln w="38100">
            <a:solidFill>
              <a:srgbClr val="173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83698" y="2935224"/>
            <a:ext cx="292242" cy="0"/>
          </a:xfrm>
          <a:prstGeom prst="line">
            <a:avLst/>
          </a:prstGeom>
          <a:ln w="38100">
            <a:solidFill>
              <a:srgbClr val="173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636008" y="5007254"/>
            <a:ext cx="124358" cy="124358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82158" y="5007254"/>
            <a:ext cx="124358" cy="124358"/>
          </a:xfrm>
          <a:prstGeom prst="ellipse">
            <a:avLst/>
          </a:prstGeom>
          <a:solidFill>
            <a:srgbClr val="B7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710623" y="5056997"/>
            <a:ext cx="727496" cy="0"/>
          </a:xfrm>
          <a:prstGeom prst="line">
            <a:avLst/>
          </a:prstGeom>
          <a:ln w="38100">
            <a:solidFill>
              <a:srgbClr val="B7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220492" y="4416552"/>
            <a:ext cx="192756" cy="621792"/>
          </a:xfrm>
          <a:prstGeom prst="line">
            <a:avLst/>
          </a:prstGeom>
          <a:ln w="38100">
            <a:solidFill>
              <a:srgbClr val="B7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83698" y="4416552"/>
            <a:ext cx="292242" cy="0"/>
          </a:xfrm>
          <a:prstGeom prst="line">
            <a:avLst/>
          </a:prstGeom>
          <a:ln w="38100">
            <a:solidFill>
              <a:srgbClr val="B7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828800" y="3438144"/>
            <a:ext cx="2505456" cy="100584"/>
          </a:xfrm>
          <a:prstGeom prst="line">
            <a:avLst/>
          </a:prstGeom>
          <a:ln w="25400">
            <a:solidFill>
              <a:srgbClr val="1734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13432" y="3840480"/>
            <a:ext cx="2020824" cy="1042416"/>
          </a:xfrm>
          <a:prstGeom prst="line">
            <a:avLst/>
          </a:prstGeom>
          <a:ln w="25400">
            <a:solidFill>
              <a:srgbClr val="B76B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62272" y="3776472"/>
            <a:ext cx="1975104" cy="39319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344C"/>
                </a:solidFill>
                <a:latin typeface="Noto Sans CJK KR"/>
                <a:ea typeface="Noto Sans CJK KR"/>
              </a:rPr>
              <a:t>① PM ↔ ① 종류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5504688"/>
            <a:ext cx="1975104" cy="39319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76B22"/>
                </a:solidFill>
                <a:latin typeface="Noto Sans CJK KR"/>
                <a:ea typeface="Noto Sans CJK KR"/>
              </a:rPr>
              <a:t>② PM ↔ ② 종류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5989320"/>
            <a:ext cx="5678424" cy="6309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17344C"/>
                </a:solidFill>
                <a:latin typeface="Noto Sans CJK KR"/>
                <a:ea typeface="Noto Sans CJK KR"/>
              </a:rPr>
              <a:t>여러 운영사의 배터리를 함께 운송하지만, 교환은 해당 PM에 맞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17344C"/>
                </a:solidFill>
                <a:latin typeface="Noto Sans CJK KR"/>
                <a:ea typeface="Noto Sans CJK KR"/>
              </a:rPr>
              <a:t>는 종류로 수행한다. 유형별 소속과 수량을 끝까지 구분한다.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6016" y="2295144"/>
            <a:ext cx="71963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공동화하는 자원과 유지하는 구분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67144" y="2770632"/>
            <a:ext cx="1389888" cy="46634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3" y="2825496"/>
            <a:ext cx="1207008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요소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57031" y="2770632"/>
            <a:ext cx="2706624" cy="46634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1" y="2825496"/>
            <a:ext cx="2523744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이번 제안의 처리 방식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63655" y="2770632"/>
            <a:ext cx="3218688" cy="46634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55095" y="2825496"/>
            <a:ext cx="3035808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물류상 의미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67144" y="3236976"/>
            <a:ext cx="1389888" cy="7680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3" y="3291840"/>
            <a:ext cx="1207008" cy="6583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차량 운송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57031" y="3236976"/>
            <a:ext cx="2706624" cy="7680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1" y="3291840"/>
            <a:ext cx="2523744" cy="6583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여러 운영사의 수요를 함께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운송한다.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63655" y="3236976"/>
            <a:ext cx="3218688" cy="7680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55095" y="3291840"/>
            <a:ext cx="3035808" cy="6583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별도 출발·복귀와 중복 이동을 줄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일 기회를 검토한다.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67144" y="4005072"/>
            <a:ext cx="1389888" cy="7772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58583" y="4059935"/>
            <a:ext cx="1207008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적재공간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57031" y="4005072"/>
            <a:ext cx="2706624" cy="7772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8471" y="4059935"/>
            <a:ext cx="2523744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필요한 종류별 배터리를 한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차량에 배정한다.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63655" y="4005072"/>
            <a:ext cx="3218688" cy="7772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55095" y="4059935"/>
            <a:ext cx="3035808" cy="6675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용량 안에서 각 운영사의 수요를 함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께 처리한다.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67144" y="4782312"/>
            <a:ext cx="1389888" cy="8138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58583" y="4837175"/>
            <a:ext cx="1207008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방문 경로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57031" y="4782312"/>
            <a:ext cx="2706624" cy="8138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48471" y="4837175"/>
            <a:ext cx="2523744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운영사 경계를 넘어 방문 순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서를 계획한다.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63655" y="4782312"/>
            <a:ext cx="3218688" cy="8138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55095" y="4837175"/>
            <a:ext cx="3035808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같은 장소 또는 인접한 장소의 업무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를 연결한다.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67144" y="5596127"/>
            <a:ext cx="1389888" cy="9509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58583" y="5650991"/>
            <a:ext cx="1207008" cy="8412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배터리 종류·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귀속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57031" y="5596127"/>
            <a:ext cx="2706624" cy="9509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48471" y="5650991"/>
            <a:ext cx="2523744" cy="8412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운영사별로 구분하고 같은 종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류끼리 교환한다.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63655" y="5596127"/>
            <a:ext cx="3218688" cy="9509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55095" y="5650991"/>
            <a:ext cx="3035808" cy="8412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서로 다른 규격의 상호장착을 요구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하지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07  |  연구 발전·시스템 제안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제안 시스템은 준비·공동 운송·현장 교환·복귀로 작동한다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제안 시스템은 종류별 충전 배터리를 준비하고, 필요한 수량을 공동 차량에 싣는 것에서 시작한다. 차량은 함께 계획한 경로를 방문하며 해당 운영사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의 PM 배터리를 교환하고 소모 배터리를 회수한다. 교환할 때 충전 배터리 하나를 내려주고 소모 배터리 하나를 회수하므로, 준비와 회수의 종류별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수량을 끝까지 구분할 수 있다. 연구에서는 이 운영 흐름을 경로·용량·배터리 수량 검증으로 연결했다.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처리한 PM 누계와 매 순간 차량에 실린 물량은 구분해야 한다. 각 회차에 필요한 배터리를 준비하고 교환·회수 수량을 추적한다. 충분한 충전 배터리가 사전에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준비된다고 가정하며 충전 일정·재고 최적화는 하지 않는다. 이 도식은 운영절차와 모형의 연결을 설명하는 것이며 전체 절차의 현장 상용운영 완료를 뜻하지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물리적 운영 흐름·종류별 충전/소모 배터리 장부 [D3]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07/15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77440"/>
            <a:ext cx="3280410" cy="9875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468880"/>
            <a:ext cx="309752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① 종류별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834640"/>
            <a:ext cx="3097529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서비스 수요만큼</a:t>
            </a:r>
          </a:p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충전 배터리 준비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2181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29634" y="2377440"/>
            <a:ext cx="3280410" cy="9875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1074" y="2468880"/>
            <a:ext cx="309752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② 공동 운송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1074" y="2834640"/>
            <a:ext cx="3097529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여러 종류를 구분해</a:t>
            </a:r>
          </a:p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한 차량에 적재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59" y="2871216"/>
            <a:ext cx="164593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11212" y="2377440"/>
            <a:ext cx="3280410" cy="9875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2652" y="2468880"/>
            <a:ext cx="309752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③ 현장 교환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2652" y="2834640"/>
            <a:ext cx="3097529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해당 종류로 교환하고</a:t>
            </a:r>
          </a:p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소모 배터리 회수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705338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892790" y="2377440"/>
            <a:ext cx="3280410" cy="987552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84230" y="2468880"/>
            <a:ext cx="309752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④ 복귀·수량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4230" y="2834640"/>
            <a:ext cx="3097529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Depot으로 복귀해</a:t>
            </a:r>
          </a:p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7344C"/>
                </a:solidFill>
                <a:latin typeface="Noto Sans CJK KR"/>
                <a:ea typeface="Noto Sans CJK KR"/>
              </a:rPr>
              <a:t>종류별 장부 검산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355701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38728"/>
            <a:ext cx="8659367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물리적 작업을 모델의 검증 항목과 연결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3986784"/>
            <a:ext cx="1228953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4009644"/>
            <a:ext cx="1046073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단계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7009" y="3986784"/>
            <a:ext cx="4213555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68449" y="4009644"/>
            <a:ext cx="4030675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수행 내용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0564" y="3986784"/>
            <a:ext cx="3335731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2004" y="4009644"/>
            <a:ext cx="3152851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확인할 항목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4361688"/>
            <a:ext cx="1228953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" y="4416552"/>
            <a:ext cx="1046073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① 준비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77009" y="4361688"/>
            <a:ext cx="4213555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8449" y="4416552"/>
            <a:ext cx="403067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서비스 수요에 맞춰 종류별 충전 배터리를 마련한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0564" y="4361688"/>
            <a:ext cx="3335731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2004" y="4416552"/>
            <a:ext cx="315285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필요한 종류·수량을 구분한다.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4956048"/>
            <a:ext cx="1228953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5010912"/>
            <a:ext cx="1046073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② 공동 운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77009" y="4956048"/>
            <a:ext cx="4213555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68449" y="5010912"/>
            <a:ext cx="403067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여러 운영사의 배터리를 한 차량에 적재해 출발한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0564" y="4956048"/>
            <a:ext cx="3335731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2004" y="5010912"/>
            <a:ext cx="315285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배정한 작업이 회차별 용량을 넘지 않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는지 확인한다.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5550408"/>
            <a:ext cx="1228953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" y="5605272"/>
            <a:ext cx="1046073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③ 현장 교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77009" y="5550408"/>
            <a:ext cx="4213555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68449" y="5605272"/>
            <a:ext cx="403067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해당 PM에 맞는 충전 배터리를 장착하고 소모 배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터리를 회수한다.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0564" y="5550408"/>
            <a:ext cx="3335731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2004" y="5605272"/>
            <a:ext cx="315285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수요 누락·중복과 종류별 교환 수량을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확인한다.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6144768"/>
            <a:ext cx="1228953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" y="6199632"/>
            <a:ext cx="1046073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④ 복귀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77009" y="6144768"/>
            <a:ext cx="4213555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68449" y="6199632"/>
            <a:ext cx="403067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Depot으로 돌아와 회수한 배터리를 종류별로 확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인한다.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90564" y="6144768"/>
            <a:ext cx="3335731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2004" y="6199632"/>
            <a:ext cx="315285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출발·교환·회수의 수량이 서로 맞는지</a:t>
            </a:r>
          </a:p>
          <a:p>
            <a:pPr algn="l">
              <a:lnSpc>
                <a:spcPts val="1756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17344C"/>
                </a:solidFill>
                <a:latin typeface="Noto Sans CJK KR"/>
                <a:ea typeface="Noto Sans CJK KR"/>
              </a:rPr>
              <a:t>검산한다.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10344" y="355701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9216" y="3538728"/>
            <a:ext cx="443484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교환하면서 차량에 남는 물량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28632" y="3941064"/>
            <a:ext cx="4517136" cy="2633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충전 배터리 ↓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소모 배터리 ↑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같은 종류의 배터리를 1대1로 교환하므로, 내려주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는 수량과 회수하는 수량이 맞아야 한다. 처리 누계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와 차량에 실린 수량은 구분해 확인한다.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08  |  연구 발전·시스템 제안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PM 위치를 계산하고 검증할 수 있는 공동운송계획으로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공동운송을 계산하려면 서로 다른 운영사의 현장 수요를 같은 기준에서 볼 수 있어야 한다. 연구 시스템은 PM의 위치·운영사·배터리 상태를 정리하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고 서비스 대상으로 선택된 기기를 방문 지점에 연결한다. 그 지점 사이의 도로 거리·시간으로 A/B/C 경로를 구한 뒤, 수요·용량·거리·시간의 일관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성을 검사한다. 결과를 저장하고 지도·그래프로 조회할 수 있게 하여 아이디어를 추적 가능한 물류 분석체계로 구체화했다.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여기서 OD는 출발 지점과 도착 지점 사이의 거리·시간 자료다. 시스템의 역할은 데이터에서 비교 결과까지의 근거를 연결하는 것이다. 대시보드는 저장된 계산</a:t>
            </a:r>
          </a:p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을 확인하는 분석 지원 도구이며, API 연동·기술스택 자체가 이번 학회 연구의 중심은 아니다. 저장된 연구결과의 검증과 실시간 현장운영 성공도 구분한다.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데이터 흐름·도로 OD·공통 DB·결과 검증 [D1·D4]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08/15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414016"/>
            <a:ext cx="2585923" cy="9144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505456"/>
            <a:ext cx="2403043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PM 현장정보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871216"/>
            <a:ext cx="2403043" cy="402335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위치·소속·상태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7695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35147" y="2414016"/>
            <a:ext cx="2585923" cy="9144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6587" y="2505456"/>
            <a:ext cx="2403043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서비스 노드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6587" y="2871216"/>
            <a:ext cx="2403043" cy="402335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대표점 반경 제한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4786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22238" y="2414016"/>
            <a:ext cx="2585923" cy="9144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3678" y="2505456"/>
            <a:ext cx="2403043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도로 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3678" y="2871216"/>
            <a:ext cx="2403043" cy="402335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방향별 거리·시간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21877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809329" y="2414016"/>
            <a:ext cx="2585923" cy="9144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0769" y="2505456"/>
            <a:ext cx="2403043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A/B/C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0769" y="2871216"/>
            <a:ext cx="2403043" cy="402335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용량·방문순서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08968" y="2871216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1596420" y="2414016"/>
            <a:ext cx="2585923" cy="9144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87860" y="2505456"/>
            <a:ext cx="2403043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8C"/>
                </a:solidFill>
                <a:latin typeface="Noto Sans CJK KR"/>
                <a:ea typeface="Noto Sans CJK KR"/>
              </a:rPr>
              <a:t>검증·조회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87860" y="2871216"/>
            <a:ext cx="2403043" cy="402335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결과 저장·추적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" y="3493008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474720"/>
            <a:ext cx="869594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현장 정보에서 공동운송계획까지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3913632"/>
            <a:ext cx="1318107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3936492"/>
            <a:ext cx="1135227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과정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66163" y="3913632"/>
            <a:ext cx="3778575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57603" y="3936492"/>
            <a:ext cx="3595695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무엇을 하는가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4738" y="3913632"/>
            <a:ext cx="3690701" cy="37490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6178" y="3936492"/>
            <a:ext cx="3507821" cy="3291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물류 판단에 필요한 이유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" y="4288536"/>
            <a:ext cx="1318107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4343400"/>
            <a:ext cx="113522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수요 정리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66163" y="4288536"/>
            <a:ext cx="3778575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57603" y="4343400"/>
            <a:ext cx="359569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PM 위치·소속·배터리 상태를 공통 기준으로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정리한다.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44738" y="4288536"/>
            <a:ext cx="3690701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6178" y="4343400"/>
            <a:ext cx="350782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어디에 어떤 작업이 필요한지 함께 파악한다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4882896"/>
            <a:ext cx="1318107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4937760"/>
            <a:ext cx="113522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방문 지점 구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66163" y="4882896"/>
            <a:ext cx="3778575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57603" y="4937760"/>
            <a:ext cx="359569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PM이 대표점의 제한 반경 안에 있도록 서비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스 노드를 만든다.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4738" y="4882896"/>
            <a:ext cx="3690701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6178" y="4937760"/>
            <a:ext cx="350782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차량 방문과 현장 접근 작업을 연결한다.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" y="5477256"/>
            <a:ext cx="1318107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5532120"/>
            <a:ext cx="113522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경로 계산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66163" y="5477256"/>
            <a:ext cx="3778575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57603" y="5532120"/>
            <a:ext cx="359569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방향별 도로 거리·시간과 용량으로 A/B/C 경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로를 구한다.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44738" y="5477256"/>
            <a:ext cx="3690701" cy="5943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36178" y="5532120"/>
            <a:ext cx="3507821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직선거리 대신 도로 이동과 적재 제약을 반영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" y="6071616"/>
            <a:ext cx="1318107" cy="71323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6126480"/>
            <a:ext cx="1135227" cy="6035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검증·저장·</a:t>
            </a:r>
          </a:p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조회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66163" y="6071616"/>
            <a:ext cx="3778575" cy="71323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57603" y="6126480"/>
            <a:ext cx="3595695" cy="6035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처리수요·적재·합계를 검산하고</a:t>
            </a:r>
          </a:p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CSV/JSON·DB에 저장한다.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4738" y="6071616"/>
            <a:ext cx="3690701" cy="713232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6178" y="6126480"/>
            <a:ext cx="3507821" cy="6035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결과의 근거를 확인하고 조건별 경로·지</a:t>
            </a:r>
          </a:p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표를 비교한다.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37776" y="3493008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6648" y="3474720"/>
            <a:ext cx="441655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결과의 근거를 확인하는 질문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56063" y="3877056"/>
            <a:ext cx="4498848" cy="267919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① PM 수요가 누락·중복되지 않았는가?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② 회차별 용량을 지켰는가?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③ 방향별 OD를 합친 거리·시간이 맞는가?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④ 이동＋서비스＝총작업시간인가?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⑤ 배터리 종류별 수량이 보존되는가?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09  |  연구 발전·시스템 제안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A·B·C를 비교해 운송대상 전환과 Pooling 효과를 분리한다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본 연구는 배터리 방식으로 바꾼 효과와 여러 운영사를 함께 처리한 효과를 섞지 않도록 세 가지 방식을 비교한다. A는 운영사별 PM 본체 수거, B는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운영사별 Battery-only 교환, C는 다중 운영사 통합 Battery Pooling이다. A→B는 운송대상 전환, B→C만 순수 Pooling, A→C는 두 변화를 결합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한 전체 도입효과로 해석한다. 특히 B와 C의 공통 조건을 맞춰 통합 계획 자체가 운송거리와 회차에 주는 차이를 평가한다.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 검증 범위: 최소 회차부터 정하고 그 안에서 거리를 탐색한다. A는 본체 수거, B/C는 현장 교환에서 끝나 후속 충전·재배치의 전체 주기 비교는 아니다.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거리·회차 감소를 비용·인건비·탄소 절감률로 바꾸지 않으며 거리 전역최적성을 보장하지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시나리오 정의·효과 산식·공통 조건·탐색정책 [D1·D3]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09/15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450592"/>
            <a:ext cx="1874519" cy="11521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542032"/>
            <a:ext cx="169163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087F8C"/>
                </a:solidFill>
                <a:latin typeface="Noto Sans CJK KR"/>
                <a:ea typeface="Noto Sans CJK KR"/>
              </a:rPr>
              <a:t>A  본체 수거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907792"/>
            <a:ext cx="1691639" cy="64008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17344C"/>
                </a:solidFill>
                <a:latin typeface="Noto Sans CJK KR"/>
                <a:ea typeface="Noto Sans CJK KR"/>
              </a:rPr>
              <a:t>운영사별 분리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6292" y="3026664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23744" y="2450592"/>
            <a:ext cx="1874519" cy="11521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2542032"/>
            <a:ext cx="169163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087F8C"/>
                </a:solidFill>
                <a:latin typeface="Noto Sans CJK KR"/>
                <a:ea typeface="Noto Sans CJK KR"/>
              </a:rPr>
              <a:t>B  배터리 교환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907792"/>
            <a:ext cx="1691639" cy="64008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17344C"/>
                </a:solidFill>
                <a:latin typeface="Noto Sans CJK KR"/>
                <a:ea typeface="Noto Sans CJK KR"/>
              </a:rPr>
              <a:t>운영사별 분리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11979" y="3026664"/>
            <a:ext cx="164592" cy="0"/>
          </a:xfrm>
          <a:prstGeom prst="line">
            <a:avLst/>
          </a:prstGeom>
          <a:ln w="2159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99432" y="2450592"/>
            <a:ext cx="1874519" cy="11521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542032"/>
            <a:ext cx="1691639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087F8C"/>
                </a:solidFill>
                <a:latin typeface="Noto Sans CJK KR"/>
                <a:ea typeface="Noto Sans CJK KR"/>
              </a:rPr>
              <a:t>C  통합 Pooling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907792"/>
            <a:ext cx="1691639" cy="64008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17344C"/>
                </a:solidFill>
                <a:latin typeface="Noto Sans CJK KR"/>
                <a:ea typeface="Noto Sans CJK KR"/>
              </a:rPr>
              <a:t>다중 운영사 공동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" y="4014215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3995928"/>
            <a:ext cx="592531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세 비교의 의미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398264"/>
            <a:ext cx="6007608" cy="9509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17344C"/>
                </a:solidFill>
                <a:latin typeface="Noto Sans CJK KR"/>
                <a:ea typeface="Noto Sans CJK KR"/>
              </a:rPr>
              <a:t>A→B: 운송대상 전환 효과</a:t>
            </a:r>
          </a:p>
          <a:p>
            <a:pPr algn="l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17344C"/>
                </a:solidFill>
                <a:latin typeface="Noto Sans CJK KR"/>
                <a:ea typeface="Noto Sans CJK KR"/>
              </a:rPr>
              <a:t>B→C: 순수 Pooling 효과</a:t>
            </a:r>
          </a:p>
          <a:p>
            <a:pPr algn="l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17344C"/>
                </a:solidFill>
                <a:latin typeface="Noto Sans CJK KR"/>
                <a:ea typeface="Noto Sans CJK KR"/>
              </a:rPr>
              <a:t>A→C: 두 변화를 포함한 전체 도입효과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" y="5541264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5522976"/>
            <a:ext cx="592531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핵심 KPI 산식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925312"/>
            <a:ext cx="6007608" cy="7040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B→C 거리 감소율 =</a:t>
            </a:r>
          </a:p>
          <a:p>
            <a:pPr algn="l">
              <a:lnSpc>
                <a:spcPts val="205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44C"/>
                </a:solidFill>
                <a:latin typeface="Noto Sans CJK KR"/>
                <a:ea typeface="Noto Sans CJK KR"/>
              </a:rPr>
              <a:t>(B 총거리 − C 총거리) ÷ B 총거리 ×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67144" y="232257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016" y="2304288"/>
            <a:ext cx="71963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비교의 차이와 공통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67144" y="2770632"/>
            <a:ext cx="1389888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8583" y="2825496"/>
            <a:ext cx="1207008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7031" y="2770632"/>
            <a:ext cx="1901952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2825496"/>
            <a:ext cx="1719072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Noto Sans CJK KR"/>
                <a:ea typeface="Noto Sans CJK KR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58984" y="2770632"/>
            <a:ext cx="1975104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825496"/>
            <a:ext cx="1792224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Noto Sans CJK KR"/>
                <a:ea typeface="Noto Sans CJK KR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34088" y="2770632"/>
            <a:ext cx="2048256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25528" y="2825496"/>
            <a:ext cx="1865376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Noto Sans CJK KR"/>
                <a:ea typeface="Noto Sans CJK KR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67144" y="3163824"/>
            <a:ext cx="1389888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58583" y="3218688"/>
            <a:ext cx="120700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운송대상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57031" y="3163824"/>
            <a:ext cx="1901952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3218688"/>
            <a:ext cx="171907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PM 본체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58984" y="3163824"/>
            <a:ext cx="1975104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50424" y="3218688"/>
            <a:ext cx="179222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배터리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34088" y="3163824"/>
            <a:ext cx="2048256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25528" y="3218688"/>
            <a:ext cx="1865376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배터리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67144" y="3621024"/>
            <a:ext cx="138988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3" y="3675887"/>
            <a:ext cx="1207008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계획 방식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57031" y="3621024"/>
            <a:ext cx="1901952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1" y="3675887"/>
            <a:ext cx="1719072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운영사별 분리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58984" y="3621024"/>
            <a:ext cx="1975104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50424" y="3675887"/>
            <a:ext cx="1792224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운영사별 분리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34088" y="3621024"/>
            <a:ext cx="2048256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225528" y="3675887"/>
            <a:ext cx="1865376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다중 운영사 통합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67144" y="4169663"/>
            <a:ext cx="1389888" cy="5852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58583" y="4224527"/>
            <a:ext cx="1207008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모형 작업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57031" y="4169663"/>
            <a:ext cx="1901952" cy="5852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48471" y="4224527"/>
            <a:ext cx="1719072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본체 수거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58984" y="4169663"/>
            <a:ext cx="1975104" cy="5852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50424" y="4224527"/>
            <a:ext cx="1792224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현장 배터리 교환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134088" y="4169663"/>
            <a:ext cx="2048256" cy="5852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25528" y="4224527"/>
            <a:ext cx="1865376" cy="47548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현장 배터리 교환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67144" y="4754879"/>
            <a:ext cx="1389888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58583" y="4809743"/>
            <a:ext cx="1207008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비교 의미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57031" y="4754879"/>
            <a:ext cx="190195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48471" y="4809743"/>
            <a:ext cx="1719072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본체 수거 기준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58984" y="4754879"/>
            <a:ext cx="1975104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50424" y="4809743"/>
            <a:ext cx="1792224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대상 전환 후 기준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34088" y="4754879"/>
            <a:ext cx="2048256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225528" y="4809743"/>
            <a:ext cx="1865376" cy="61264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순수 통합 효과 평가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76288" y="5614416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95159" y="5596128"/>
            <a:ext cx="7187184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B와 C는 같은 서비스 조건으로 비교한다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4575" y="5998464"/>
            <a:ext cx="7269480" cy="62179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3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PM 수요·좌표·노드·Depot·도로 OD·배터리 용량·교환시간을 고정한다. 달라</a:t>
            </a:r>
          </a:p>
          <a:p>
            <a:pPr algn="l">
              <a:lnSpc>
                <a:spcPts val="203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지는 것은 운영사별 경로를 나누는지 함께 계획하는지다.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10  |  Observed · 실제 좌표 기반 계산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실제 데이터와 모형: 같은 수요를 같은 도로망에서 비교한다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원본 4,487행 → SOC 40% 이하 944대 → 두 운영사가 함께 있는 선택 권역 163대. GBIKE 155대·ALPACA 8대로 구성되며, 실제 PM 좌표를 입력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해 회수·교환 경로를 계산했다. SOC 기준은 분석용 서비스 대상 기준이다.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해석 범위: 선택된 단일 권역의 계산 사례다. 관측시각은 확인되지 않고 표본은 무작위·세종시 전체 대표가 아니다. Depot은 좌표 평균의 가상 위치이며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주정차 가능성은 미검증이다. 263개는 중량 기준 이론적 상한으로 실차 적재 검증이 남아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[D1] selection·nodes·spatial_diagnostics·od_validation·config / [D3] 고정 연구가정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10/15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5751576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실제 기기·대표점·거점의 공간 관계</a:t>
            </a:r>
          </a:p>
        </p:txBody>
      </p:sp>
      <p:pic>
        <p:nvPicPr>
          <p:cNvPr id="12" name="Picture 11" descr="observed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09" y="2770632"/>
            <a:ext cx="2842708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3776" y="6272784"/>
            <a:ext cx="5751576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574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7344C"/>
                </a:solidFill>
                <a:latin typeface="Noto Sans CJK KR"/>
                <a:ea typeface="Noto Sans CJK KR"/>
              </a:rPr>
              <a:t>점: 기기 위치 / 원: 서비스 대표점 / 별: 가상 Depot. 옅은 연결선은 PM–대표점 접</a:t>
            </a:r>
          </a:p>
          <a:p>
            <a:pPr algn="l">
              <a:lnSpc>
                <a:spcPts val="1574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7344C"/>
                </a:solidFill>
                <a:latin typeface="Noto Sans CJK KR"/>
                <a:ea typeface="Noto Sans CJK KR"/>
              </a:rPr>
              <a:t>근이며 도로 경로가 아니다.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295144"/>
            <a:ext cx="7498079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입력·제약·계산 가정을 함께 명시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2743200"/>
            <a:ext cx="1673717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1" y="2798064"/>
            <a:ext cx="1490837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514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9109" y="2743200"/>
            <a:ext cx="5934090" cy="39319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549" y="2798064"/>
            <a:ext cx="5751210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514" b="1">
                <a:solidFill>
                  <a:srgbClr val="FFFFFF"/>
                </a:solidFill>
                <a:latin typeface="Noto Sans CJK KR"/>
                <a:ea typeface="Noto Sans CJK KR"/>
              </a:rPr>
              <a:t>동결 모델의 설정·확인값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3136392"/>
            <a:ext cx="1673717" cy="40233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3191256"/>
            <a:ext cx="1490837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수요·지점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9109" y="3136392"/>
            <a:ext cx="5934090" cy="40233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549" y="3191256"/>
            <a:ext cx="575121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163대 / 45개 노드＋Depot 1개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3538728"/>
            <a:ext cx="1673717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1" y="3593592"/>
            <a:ext cx="149083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대표점 접근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9109" y="3538728"/>
            <a:ext cx="5934090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549" y="3593592"/>
            <a:ext cx="575121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PM→대표점 ≤150m / 실제 최대 148.9403m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3986784"/>
            <a:ext cx="1673717" cy="41148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4041648"/>
            <a:ext cx="1490837" cy="3017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도로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9109" y="3986784"/>
            <a:ext cx="5934090" cy="41148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549" y="4041648"/>
            <a:ext cx="5751210" cy="3017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46×46 OD / 비대각 2,070방향 / 대체값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2" y="4398264"/>
            <a:ext cx="1673717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1" y="4453128"/>
            <a:ext cx="1490837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경로 기준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39109" y="4398264"/>
            <a:ext cx="5934090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549" y="4453128"/>
            <a:ext cx="5751210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Kakao TIME 우선 경로의 거리·예상시간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5392" y="4828032"/>
            <a:ext cx="1673717" cy="40233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4882896"/>
            <a:ext cx="1490837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적재 입력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39109" y="4828032"/>
            <a:ext cx="5934090" cy="40233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549" y="4882896"/>
            <a:ext cx="575121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A: PM 6대 / B·C: 배터리 263개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65392" y="5230368"/>
            <a:ext cx="1673717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5285232"/>
            <a:ext cx="149083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작업시간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9109" y="5230368"/>
            <a:ext cx="5934090" cy="5943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0549" y="5285232"/>
            <a:ext cx="5751210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PM 상차·하차 각 30초 / 교환 30초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7344C"/>
                </a:solidFill>
                <a:latin typeface="Noto Sans CJK KR"/>
                <a:ea typeface="Noto Sans CJK KR"/>
              </a:rPr>
              <a:t>B·C Depot 작업 0초 / 보행 1.2m/s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5824728"/>
            <a:ext cx="1673717" cy="5486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6831" y="5879592"/>
            <a:ext cx="1490837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탐색 정책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39109" y="5824728"/>
            <a:ext cx="5934090" cy="5486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0549" y="5879592"/>
            <a:ext cx="5751210" cy="43891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최소 회차부터 시도 → 그 회차의 도로거리 탐색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5392" y="6373368"/>
            <a:ext cx="1673717" cy="41148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6831" y="6428232"/>
            <a:ext cx="1490837" cy="3017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탐색·보장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39109" y="6373368"/>
            <a:ext cx="5934090" cy="41148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549" y="6428232"/>
            <a:ext cx="5751210" cy="3017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17344C"/>
                </a:solidFill>
                <a:latin typeface="Noto Sans CJK KR"/>
                <a:ea typeface="Noto Sans CJK KR"/>
              </a:rPr>
              <a:t>탐색당 30초 / 거리 전역최적성 미증명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11  |  Observed · A/B/C 비교와 원인 해석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실제 결과: 기존 방문에 다른 운영사의 작업을 함께 담았다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동일 163대 수요에서 B→C의 순수 Pooling 효과는 3.710km·10.6557% 거리 감소다. A→B 62.4290%는 운송대상 전환, A→C 66.4325%는 두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변화를 포함한 전체 도입효과로 구분한다.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B/C 서비스시간은 346.700분으로 같아 이동시간만 7.783분 줄었다. 총작업시간 감소는 1.7299%로 거리 감소율과 다르다. 회차는 차량 대수가 아니며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시간은 업무 합계다. A와 B/C의 종료상태가 달라 전체 충전·재배치 비용을 비교한 결과는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[D1] scenario_summary·comparisons·routes / 저장 도로형상: 53구간 캐시 일치, 직선 대체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11/15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8174736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수요·회차·거리·시간을 한 표에서 검토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761488"/>
            <a:ext cx="2565349" cy="48463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816352"/>
            <a:ext cx="2382469" cy="3749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</a:rPr>
              <a:t>지표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3405" y="2761488"/>
            <a:ext cx="1903323" cy="48463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4845" y="2816352"/>
            <a:ext cx="1720443" cy="3749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</a:rPr>
              <a:t>A 본체 수거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6728" y="2761488"/>
            <a:ext cx="1903323" cy="48463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8168" y="2816352"/>
            <a:ext cx="1720443" cy="3749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</a:rPr>
              <a:t>B 개별 배터리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20052" y="2761488"/>
            <a:ext cx="1903323" cy="484632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1492" y="2816352"/>
            <a:ext cx="1720443" cy="37490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21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</a:rPr>
              <a:t>C 통합 Pooling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3246120"/>
            <a:ext cx="2565349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3268979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처리 수요(대)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3405" y="324612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4845" y="326897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163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6728" y="324612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8168" y="326897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163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20052" y="324612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1492" y="326897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163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3611879"/>
            <a:ext cx="2565349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3634739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총 도로거리(km)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3405" y="3611879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4845" y="363473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92.670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6728" y="3611879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8168" y="363473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34.817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0052" y="3611879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1492" y="3634739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" y="3977639"/>
            <a:ext cx="2565349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4000500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운송 회차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3405" y="3977639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4845" y="400050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6728" y="3977639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8168" y="400050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20052" y="3977639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1492" y="400050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" y="4343400"/>
            <a:ext cx="2565349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" y="4366260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이동시간(분)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3405" y="434340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4845" y="436626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268.567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6728" y="434340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8168" y="436626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103.233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20052" y="434340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1492" y="436626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95.450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4709160"/>
            <a:ext cx="2565349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" y="4732020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서비스시간(분)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3405" y="470916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4845" y="473202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428.200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16728" y="470916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8168" y="473202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346.700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20052" y="4709160"/>
            <a:ext cx="1903323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11492" y="473202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346.700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" y="5074920"/>
            <a:ext cx="2565349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5097780"/>
            <a:ext cx="2382469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총작업시간(분)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3405" y="507492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4845" y="509778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696.767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16728" y="507492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8168" y="509778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449.933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20052" y="5074920"/>
            <a:ext cx="1903323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1492" y="5097780"/>
            <a:ext cx="1720443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605" b="0">
                <a:solidFill>
                  <a:srgbClr val="17344C"/>
                </a:solidFill>
                <a:latin typeface="Noto Sans CJK KR"/>
                <a:ea typeface="Noto Sans CJK KR"/>
              </a:rPr>
              <a:t>442.150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486400"/>
            <a:ext cx="8266175" cy="33832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5522976"/>
            <a:ext cx="7982712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Noto Sans CJK KR"/>
                <a:ea typeface="Noto Sans CJK KR"/>
              </a:rPr>
              <a:t>B = GBIKE 31.107 ＋ ALPACA 3.710 → C = 31.107km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" y="5925312"/>
            <a:ext cx="8238744" cy="8138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3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용량 263개＞총수요 163개에서 ALPACA 8대의 6개 노드는 GBIKE도 방문한다. GBIKE B와</a:t>
            </a:r>
          </a:p>
          <a:p>
            <a:pPr algn="l">
              <a:lnSpc>
                <a:spcPts val="203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C의 45개 물리 노드 방문순서는 같다. 기존 방문에 작업을 포함해 별도 3.710km 회차를 제거</a:t>
            </a:r>
          </a:p>
          <a:p>
            <a:pPr algn="l">
              <a:lnSpc>
                <a:spcPts val="203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44C"/>
                </a:solidFill>
                <a:latin typeface="Noto Sans CJK KR"/>
                <a:ea typeface="Noto Sans CJK KR"/>
              </a:rPr>
              <a:t>했다.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15984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34856" y="2295144"/>
            <a:ext cx="502920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방문 중첩을 저장 경로에서 확인</a:t>
            </a:r>
          </a:p>
        </p:txBody>
      </p:sp>
      <p:pic>
        <p:nvPicPr>
          <p:cNvPr id="73" name="Picture 72" descr="observed_route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462" y="2770632"/>
            <a:ext cx="2852251" cy="343814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052560" y="6272784"/>
            <a:ext cx="5056632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7344C"/>
                </a:solidFill>
                <a:latin typeface="Noto Sans CJK KR"/>
                <a:ea typeface="Noto Sans CJK KR"/>
              </a:rPr>
              <a:t>청록: C＝GBIKE의 B 방문순서 / 주황: ALPACA 별도 경로. 새 방문순서</a:t>
            </a: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7344C"/>
                </a:solidFill>
                <a:latin typeface="Noto Sans CJK KR"/>
                <a:ea typeface="Noto Sans CJK KR"/>
              </a:rPr>
              <a:t>재배열의 효과로 해석하지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12  |  Synthetic · 조건 설계와 비교 범위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가상실험 설계: 소속만 바꿔 공동운송의 조건을 비교한다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실제 관측 155/8 구성만으로 다양한 시장을 설명하기 어려워, 기존 실험에서 운영사 구성비·공간 배치·운영사 수를 통제했다. 실제 163대 좌표·수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요·노드·Depot·도로 OD는 유지하고 운영사 소속 조건만 변경했다.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[D1] controlled_plan·controlled_aggregate / [D2] multi_operator_methodology·execution_inventory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12/15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95144"/>
            <a:ext cx="726948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기존 2개사 탐색에서 2~4개사 비교로 확장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761488"/>
            <a:ext cx="1619402" cy="40233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16352"/>
            <a:ext cx="1436522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단계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7458" y="2761488"/>
            <a:ext cx="4858207" cy="40233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8898" y="2816352"/>
            <a:ext cx="4675327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조건·역할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5665" y="2761488"/>
            <a:ext cx="883310" cy="40233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7105" y="2816352"/>
            <a:ext cx="70043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Noto Sans CJK KR"/>
                <a:ea typeface="Noto Sans CJK KR"/>
              </a:rPr>
              <a:t>실행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163824"/>
            <a:ext cx="1619402" cy="61264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218688"/>
            <a:ext cx="1436522" cy="5029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기존 2개사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67458" y="3163824"/>
            <a:ext cx="4858207" cy="61264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8898" y="3218688"/>
            <a:ext cx="4675327" cy="5029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소수 수요 8/16/41/81 × 3배정 × 3시드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5665" y="3163824"/>
            <a:ext cx="883310" cy="612648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7105" y="3218688"/>
            <a:ext cx="700430" cy="5029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3776472"/>
            <a:ext cx="1619402" cy="4663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831335"/>
            <a:ext cx="1436522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2개사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458" y="3776472"/>
            <a:ext cx="4858207" cy="4663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58898" y="3831335"/>
            <a:ext cx="4675327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균등 82/81의 LOW/HIGH × 3시드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5665" y="3776472"/>
            <a:ext cx="883310" cy="4663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7105" y="3831335"/>
            <a:ext cx="70043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4242816"/>
            <a:ext cx="1619402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4297679"/>
            <a:ext cx="143652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3개사 확장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67458" y="4242816"/>
            <a:ext cx="4858207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8898" y="4297679"/>
            <a:ext cx="4675327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S1 81/49/33 · S2 55/54/54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5665" y="4242816"/>
            <a:ext cx="883310" cy="45720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7105" y="4297679"/>
            <a:ext cx="70043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" y="4700016"/>
            <a:ext cx="1619402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4754879"/>
            <a:ext cx="1436522" cy="4297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4개사 확장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7458" y="4700016"/>
            <a:ext cx="4858207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58898" y="4754879"/>
            <a:ext cx="4675327" cy="4297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S3 65/49/33/16 · S4 41/41/41/40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5665" y="4700016"/>
            <a:ext cx="883310" cy="5394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17105" y="4754879"/>
            <a:ext cx="700430" cy="42976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" y="5239512"/>
            <a:ext cx="1619402" cy="4663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" y="5294375"/>
            <a:ext cx="1436522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최종 보고 범위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458" y="5239512"/>
            <a:ext cx="4858207" cy="4663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58898" y="5294375"/>
            <a:ext cx="4675327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기존 6조건 재사용 ＋ 신규 24조건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25665" y="5239512"/>
            <a:ext cx="883310" cy="466344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17105" y="5294375"/>
            <a:ext cx="70043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91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" y="5861304"/>
            <a:ext cx="7287768" cy="7863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44C"/>
                </a:solidFill>
                <a:latin typeface="Noto Sans CJK KR"/>
                <a:ea typeface="Noto Sans CJK KR"/>
              </a:rPr>
              <a:t>기존 3배정은 공간 블록·전체 PM 무작위·노드 내부 혼재다. 36실행의 거리 감소 범위는</a:t>
            </a:r>
          </a:p>
          <a:p>
            <a:pPr algn="l">
              <a:lnSpc>
                <a:spcPts val="190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44C"/>
                </a:solidFill>
                <a:latin typeface="Noto Sans CJK KR"/>
                <a:ea typeface="Noto Sans CJK KR"/>
              </a:rPr>
              <a:t>12.6748~39.5041%로, 소수 운영사 비중 증가가 항상 더 큰 효과로 이어지지는 않았다.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57032" y="2295144"/>
            <a:ext cx="589788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같은 실제 위치에서 LOW/HIGH 소속만 변경</a:t>
            </a:r>
          </a:p>
        </p:txBody>
      </p:sp>
      <p:pic>
        <p:nvPicPr>
          <p:cNvPr id="49" name="Picture 48" descr="synthetic_ownership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453" y="2798064"/>
            <a:ext cx="5210733" cy="31089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238744" y="6108192"/>
            <a:ext cx="5824728" cy="521207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예시: 3개사 균등 S2·시드 11. 색은 가상 운영사 소속이며 실제 3개 운영사</a:t>
            </a:r>
          </a:p>
          <a:p>
            <a:pPr algn="l">
              <a:lnSpc>
                <a:spcPts val="177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분포가 아니다.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903720"/>
            <a:ext cx="13459968" cy="6766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LOW는 공간 블록, HIGH는 같은 노드 안에서 혼재시키는 배정이다. 시드는 11·29·47이며 달성 혼합도를 따로 기록한다. 기존 36실행은 28개 고유 배정·8개 중복</a:t>
            </a:r>
          </a:p>
          <a:p>
            <a:pPr algn="l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이고, 최종 30조건에 재사용된 6조건을 신규 실험으로 다시 세지 않는다.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7589520"/>
            <a:ext cx="13459968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76B22"/>
                </a:solidFill>
                <a:latin typeface="Noto Sans CJK KR"/>
                <a:ea typeface="Noto Sans CJK KR"/>
              </a:rPr>
              <a:t>실제 세종시 운영사 성과가 아니라, 실제 공간·도로망에서 운영사 소속만 변경한 가상 확장실험입니다.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13  |  Synthetic · 30조건의 결과와 메커니즘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가상실험 결과: 운영사 수·구성·공간 중첩을 함께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기본 용량 263개가 총수요 163개보다 커 C는 모든 30조건에서 31.107km·1회차다. B는 운영사별 분리 경로로 2·3·4회차를 사용한다. 아래는 동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일 구성·중첩의 3실행을 요약한 기술통계이며 실제 운영사 성과가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[D2] 시장별 요약·balanced_operator_count_summary / [D3] capacity100_corner_check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13/15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95144"/>
            <a:ext cx="1359712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거리 결과·절감률 Heatmap·달성 혼합도를 같은 조건에서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761488"/>
            <a:ext cx="3158886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16352"/>
            <a:ext cx="2976006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FFFFFF"/>
                </a:solidFill>
                <a:latin typeface="Noto Sans CJK KR"/>
                <a:ea typeface="Noto Sans CJK KR"/>
              </a:rPr>
              <a:t>시장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6942" y="2761488"/>
            <a:ext cx="1304757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8382" y="2816352"/>
            <a:ext cx="112187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B LOW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(km)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1699" y="2761488"/>
            <a:ext cx="1304757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139" y="2816352"/>
            <a:ext cx="1121877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B HIGH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(km)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6456" y="2761488"/>
            <a:ext cx="1236085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7896" y="2816352"/>
            <a:ext cx="1053205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C 거리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(km)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542" y="2761488"/>
            <a:ext cx="1922800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982" y="2816352"/>
            <a:ext cx="1739920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B→C LOW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거리 감소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5343" y="2761488"/>
            <a:ext cx="1922800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6783" y="2816352"/>
            <a:ext cx="1739920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B→C HIGH</a:t>
            </a:r>
          </a:p>
          <a:p>
            <a:pPr algn="l">
              <a:lnSpc>
                <a:spcPts val="1744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FFFFFF"/>
                </a:solidFill>
                <a:latin typeface="Noto Sans CJK KR"/>
                <a:ea typeface="Noto Sans CJK KR"/>
              </a:rPr>
              <a:t>거리 감소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98143" y="2761488"/>
            <a:ext cx="2884200" cy="594360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89583" y="2816352"/>
            <a:ext cx="2701320" cy="4846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FFFFFF"/>
                </a:solidFill>
                <a:latin typeface="Noto Sans CJK KR"/>
                <a:ea typeface="Noto Sans CJK KR"/>
              </a:rPr>
              <a:t>혼합도 LOW /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3355848"/>
            <a:ext cx="3158886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3410712"/>
            <a:ext cx="2976006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2개사 균등 82/81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6942" y="3355848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8382" y="3410712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39.385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1699" y="3355848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3139" y="3410712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51.420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6456" y="3355848"/>
            <a:ext cx="1236085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7896" y="3410712"/>
            <a:ext cx="105320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542" y="3355848"/>
            <a:ext cx="1922800" cy="448056"/>
          </a:xfrm>
          <a:prstGeom prst="rect">
            <a:avLst/>
          </a:prstGeom>
          <a:solidFill>
            <a:srgbClr val="9DCCD0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982" y="3410712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21.0182%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5343" y="3355848"/>
            <a:ext cx="1922800" cy="448056"/>
          </a:xfrm>
          <a:prstGeom prst="rect">
            <a:avLst/>
          </a:prstGeom>
          <a:solidFill>
            <a:srgbClr val="57A8B0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6783" y="3410712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39.5041%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98143" y="3355848"/>
            <a:ext cx="2884200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9583" y="3410712"/>
            <a:ext cx="27013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0.1822 / 0.7508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" y="3803904"/>
            <a:ext cx="3158886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858768"/>
            <a:ext cx="2976006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3개사 S1 81/49/33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6942" y="3803904"/>
            <a:ext cx="1304757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8382" y="3858768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44.526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11699" y="3803904"/>
            <a:ext cx="1304757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03139" y="3858768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64.935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6456" y="3803904"/>
            <a:ext cx="1236085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7896" y="3858768"/>
            <a:ext cx="105320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542" y="3803904"/>
            <a:ext cx="1922800" cy="448056"/>
          </a:xfrm>
          <a:prstGeom prst="rect">
            <a:avLst/>
          </a:prstGeom>
          <a:solidFill>
            <a:srgbClr val="7ABAC0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982" y="3858768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30.1374%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75343" y="3803904"/>
            <a:ext cx="1922800" cy="448056"/>
          </a:xfrm>
          <a:prstGeom prst="rect">
            <a:avLst/>
          </a:prstGeom>
          <a:solidFill>
            <a:srgbClr val="268F9A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6783" y="3858768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52.0952%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98143" y="3803904"/>
            <a:ext cx="2884200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89583" y="3858768"/>
            <a:ext cx="27013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0.1908 / 0.7583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4251960"/>
            <a:ext cx="3158886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" y="4306824"/>
            <a:ext cx="2976006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3개사 S2 55/54/54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6942" y="4251960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98382" y="4306824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44.232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11699" y="4251960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3139" y="4306824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64.747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6456" y="4251960"/>
            <a:ext cx="1236085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7896" y="4306824"/>
            <a:ext cx="105320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542" y="4251960"/>
            <a:ext cx="1922800" cy="448056"/>
          </a:xfrm>
          <a:prstGeom prst="rect">
            <a:avLst/>
          </a:prstGeom>
          <a:solidFill>
            <a:srgbClr val="7CBBC1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43982" y="4306824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29.6731%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5343" y="4251960"/>
            <a:ext cx="1922800" cy="448056"/>
          </a:xfrm>
          <a:prstGeom prst="rect">
            <a:avLst/>
          </a:prstGeom>
          <a:solidFill>
            <a:srgbClr val="278F9A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66783" y="4306824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51.9561%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98143" y="4251960"/>
            <a:ext cx="2884200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389583" y="4306824"/>
            <a:ext cx="27013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0.0782 / 0.7533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" y="4700016"/>
            <a:ext cx="3158886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4754880"/>
            <a:ext cx="2976006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4개사 S3 65/49/33/16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06942" y="4700016"/>
            <a:ext cx="1304757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98382" y="4754880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51.359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1699" y="4700016"/>
            <a:ext cx="1304757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03139" y="4754880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72.795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6456" y="4700016"/>
            <a:ext cx="1236085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7896" y="4754880"/>
            <a:ext cx="105320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542" y="4700016"/>
            <a:ext cx="1922800" cy="448056"/>
          </a:xfrm>
          <a:prstGeom prst="rect">
            <a:avLst/>
          </a:prstGeom>
          <a:solidFill>
            <a:srgbClr val="57A8B0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982" y="4754880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39.4322%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75343" y="4700016"/>
            <a:ext cx="1922800" cy="448056"/>
          </a:xfrm>
          <a:prstGeom prst="rect">
            <a:avLst/>
          </a:prstGeom>
          <a:solidFill>
            <a:srgbClr val="128491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66783" y="4754880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57.2677%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98143" y="4700016"/>
            <a:ext cx="2884200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389583" y="4754880"/>
            <a:ext cx="27013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0.2296 / 0.7577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8056" y="5148072"/>
            <a:ext cx="3158886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" y="5202936"/>
            <a:ext cx="2976006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4개사 S4 41/41/41/40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06942" y="5148072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98382" y="5202936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52.521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11699" y="5148072"/>
            <a:ext cx="1304757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03139" y="5202936"/>
            <a:ext cx="1121877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71.795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6456" y="5148072"/>
            <a:ext cx="1236085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07896" y="5202936"/>
            <a:ext cx="105320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542" y="5148072"/>
            <a:ext cx="1922800" cy="448056"/>
          </a:xfrm>
          <a:prstGeom prst="rect">
            <a:avLst/>
          </a:prstGeom>
          <a:solidFill>
            <a:srgbClr val="52A5AE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982" y="5202936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40.7723%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75343" y="5148072"/>
            <a:ext cx="1922800" cy="448056"/>
          </a:xfrm>
          <a:prstGeom prst="rect">
            <a:avLst/>
          </a:prstGeom>
          <a:solidFill>
            <a:srgbClr val="158692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466783" y="5202936"/>
            <a:ext cx="17399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FFFFFF"/>
                </a:solidFill>
                <a:latin typeface="Noto Sans CJK KR"/>
                <a:ea typeface="Noto Sans CJK KR"/>
              </a:rPr>
              <a:t>56.6725%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298143" y="5148072"/>
            <a:ext cx="2884200" cy="44805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389583" y="5202936"/>
            <a:ext cx="2701320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17344C"/>
                </a:solidFill>
                <a:latin typeface="Noto Sans CJK KR"/>
                <a:ea typeface="Noto Sans CJK KR"/>
              </a:rPr>
              <a:t>0.2810 / 0.6991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" y="5696712"/>
            <a:ext cx="13670280" cy="35661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17344C"/>
                </a:solidFill>
                <a:latin typeface="Noto Sans CJK KR"/>
                <a:ea typeface="Noto Sans CJK KR"/>
              </a:rPr>
              <a:t>혼합도는 노드 내 운영사 수요가 얼마나 섞였는지 나타내는 0~1 지표다. LOW/HIGH는 설계 이름이며 운영사 수·구성마다 달성 수준이 다르다.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56" y="6163055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6928" y="6144768"/>
            <a:ext cx="715060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Q100에서도 C가 2회차인 기존 두 사례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8056" y="6565392"/>
            <a:ext cx="1967697" cy="32918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6588252"/>
            <a:ext cx="1784817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34"/>
              </a:lnSpc>
              <a:spcBef>
                <a:spcPts val="0"/>
              </a:spcBef>
              <a:spcAft>
                <a:spcPts val="0"/>
              </a:spcAft>
            </a:pPr>
            <a:r>
              <a:rPr sz="1339" b="1">
                <a:solidFill>
                  <a:srgbClr val="FFFFFF"/>
                </a:solidFill>
                <a:latin typeface="Noto Sans CJK KR"/>
                <a:ea typeface="Noto Sans CJK KR"/>
              </a:rPr>
              <a:t>조건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15753" y="6565392"/>
            <a:ext cx="2404963" cy="32918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07193" y="6588252"/>
            <a:ext cx="2222083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34"/>
              </a:lnSpc>
              <a:spcBef>
                <a:spcPts val="0"/>
              </a:spcBef>
              <a:spcAft>
                <a:spcPts val="0"/>
              </a:spcAft>
            </a:pPr>
            <a:r>
              <a:rPr sz="1339" b="1">
                <a:solidFill>
                  <a:srgbClr val="FFFFFF"/>
                </a:solidFill>
                <a:latin typeface="Noto Sans CJK KR"/>
                <a:ea typeface="Noto Sans CJK KR"/>
              </a:rPr>
              <a:t>B→C 거리(km)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20716" y="6565392"/>
            <a:ext cx="947409" cy="32918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12156" y="6588252"/>
            <a:ext cx="764529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34"/>
              </a:lnSpc>
              <a:spcBef>
                <a:spcPts val="0"/>
              </a:spcBef>
              <a:spcAft>
                <a:spcPts val="0"/>
              </a:spcAft>
            </a:pPr>
            <a:r>
              <a:rPr sz="1339" b="1">
                <a:solidFill>
                  <a:srgbClr val="FFFFFF"/>
                </a:solidFill>
                <a:latin typeface="Noto Sans CJK KR"/>
                <a:ea typeface="Noto Sans CJK KR"/>
              </a:rPr>
              <a:t>회차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768126" y="6565392"/>
            <a:ext cx="1967697" cy="329184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859566" y="6588252"/>
            <a:ext cx="1784817" cy="28346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34"/>
              </a:lnSpc>
              <a:spcBef>
                <a:spcPts val="0"/>
              </a:spcBef>
              <a:spcAft>
                <a:spcPts val="0"/>
              </a:spcAft>
            </a:pPr>
            <a:r>
              <a:rPr sz="1339" b="1">
                <a:solidFill>
                  <a:srgbClr val="FFFFFF"/>
                </a:solidFill>
                <a:latin typeface="Noto Sans CJK KR"/>
                <a:ea typeface="Noto Sans CJK KR"/>
              </a:rPr>
              <a:t>감소율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8056" y="6894576"/>
            <a:ext cx="1967697" cy="3108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9496" y="6917436"/>
            <a:ext cx="1784817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S1 LOW·3개사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15753" y="6894576"/>
            <a:ext cx="2404963" cy="3108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507193" y="6917436"/>
            <a:ext cx="2222083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44.526→32.375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20716" y="6894576"/>
            <a:ext cx="947409" cy="3108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12156" y="6917436"/>
            <a:ext cx="764529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3→2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8126" y="6894576"/>
            <a:ext cx="1967697" cy="31089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859566" y="6917436"/>
            <a:ext cx="1784817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27.2897%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48056" y="7205472"/>
            <a:ext cx="1967697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9496" y="7228332"/>
            <a:ext cx="1784817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S4 HIGH·4개사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415753" y="7205472"/>
            <a:ext cx="2404963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507193" y="7228332"/>
            <a:ext cx="2222083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71.795→32.375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820716" y="7205472"/>
            <a:ext cx="947409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912156" y="7228332"/>
            <a:ext cx="764529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4→2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768126" y="7205472"/>
            <a:ext cx="1967697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859566" y="7228332"/>
            <a:ext cx="1784817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17344C"/>
                </a:solidFill>
                <a:latin typeface="Noto Sans CJK KR"/>
                <a:ea typeface="Noto Sans CJK KR"/>
              </a:rPr>
              <a:t>54.9063%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6163055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83880" y="6144768"/>
            <a:ext cx="5980176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숫자를 해석할 때 필요한 구분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83296" y="6547104"/>
            <a:ext cx="6062472" cy="9509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17344C"/>
                </a:solidFill>
                <a:latin typeface="Noto Sans CJK KR"/>
                <a:ea typeface="Noto Sans CJK KR"/>
              </a:rPr>
              <a:t>30실행은 고유 배정 20개이며 독립 30표본이 아니다. 분리 회차 구조·혼합</a:t>
            </a:r>
          </a:p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17344C"/>
                </a:solidFill>
                <a:latin typeface="Noto Sans CJK KR"/>
                <a:ea typeface="Noto Sans CJK KR"/>
              </a:rPr>
              <a:t>도가 함께 작용해 운영사 수의 독립 인과효과나 통계적 유의성을 입증하지</a:t>
            </a:r>
          </a:p>
          <a:p>
            <a:pPr algn="l">
              <a:lnSpc>
                <a:spcPts val="1854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17344C"/>
                </a:solidFill>
                <a:latin typeface="Noto Sans CJK KR"/>
                <a:ea typeface="Noto Sans CJK KR"/>
              </a:rPr>
              <a:t>않는다. Q100은 별도 2사례다.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4632" y="7635240"/>
            <a:ext cx="13670280" cy="22860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76B22"/>
                </a:solidFill>
                <a:latin typeface="Noto Sans CJK KR"/>
                <a:ea typeface="Noto Sans CJK KR"/>
              </a:rPr>
              <a:t>실제 세종시 운영사 성과가 아니라, 실제 공간·도로망에서 운영사 소속만 변경한 가상 확장실험입니다.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14  |  Robustness · 조건 변화와 결과 검산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강건성 검토: 작은 용량과 탐색시간 변화에서도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관측 소속 155/8·실제 공간·도로 OD를 고정한 적재용량 5수준 재분석에서는 모두 B→C 거리 이득이 남았다. 효과의 크기는 비단조적이며, 탐색시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간 3수준 비교와 저장 경로 감사로 계산 결과의 일관성을 확인했다.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용량 30에서도 163개 수요가 누락·중복 없이 처리됐다. 다만 최대 노드 수요는 19여서 한 노드 수요가 30을 초과하는 실제 사례는 없다. 민감도는 실제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차량의 적재 가능성을 검증하지 않으며, 저장 결과 감사는 전체 pytest·실시간 API 재검증과 구분한다.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[D3] capacity_sensitivity·solver_time_sensitivity / [D5] saved_route_audit(41case·294경로)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14/15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669340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적재용량 5수준: 크기는 달라도 거리 이득 유지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761488"/>
            <a:ext cx="122456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784348"/>
            <a:ext cx="104168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Noto Sans CJK KR"/>
                <a:ea typeface="Noto Sans CJK KR"/>
              </a:rPr>
              <a:t>용량(개)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2620" y="2761488"/>
            <a:ext cx="122456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4060" y="2784348"/>
            <a:ext cx="104168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Noto Sans CJK KR"/>
                <a:ea typeface="Noto Sans CJK KR"/>
              </a:rPr>
              <a:t>B 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7184" y="2761488"/>
            <a:ext cx="122456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8624" y="2784348"/>
            <a:ext cx="104168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Noto Sans CJK KR"/>
                <a:ea typeface="Noto Sans CJK KR"/>
              </a:rPr>
              <a:t>C km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1749" y="2761488"/>
            <a:ext cx="122456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3189" y="2784348"/>
            <a:ext cx="104168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Noto Sans CJK KR"/>
                <a:ea typeface="Noto Sans CJK KR"/>
              </a:rPr>
              <a:t>회차 B/C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6313" y="2761488"/>
            <a:ext cx="1904878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7753" y="2784348"/>
            <a:ext cx="1721998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60" b="1">
                <a:solidFill>
                  <a:srgbClr val="FFFFFF"/>
                </a:solidFill>
                <a:latin typeface="Noto Sans CJK KR"/>
                <a:ea typeface="Noto Sans CJK KR"/>
              </a:rPr>
              <a:t>거리 감소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3145536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68396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2620" y="3145536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060" y="3168396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42.501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97184" y="3145536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8624" y="3168396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40.126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21749" y="3145536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3189" y="3168396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7/6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6313" y="3145536"/>
            <a:ext cx="1904878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7753" y="3168396"/>
            <a:ext cx="1721998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5.5881%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" y="3502152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3525012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2620" y="3502152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4060" y="3525012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36.756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7184" y="3502152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88624" y="3525012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33.265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21749" y="3502152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3189" y="3525012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4/3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6313" y="3502152"/>
            <a:ext cx="1904878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37753" y="3525012"/>
            <a:ext cx="1721998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9.4978%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" y="3858768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881628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72620" y="3858768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64060" y="3881628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35.489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97184" y="3858768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88624" y="3881628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32.375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21749" y="3858768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13189" y="3881628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3/2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6313" y="3858768"/>
            <a:ext cx="1904878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7753" y="3881628"/>
            <a:ext cx="1721998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8.7745%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4215383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" y="4238244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150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72620" y="4215383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64060" y="4238244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35.963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7184" y="4215383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88624" y="4238244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32.069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21749" y="4215383"/>
            <a:ext cx="122456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3189" y="4238244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3/2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6313" y="4215383"/>
            <a:ext cx="1904878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37753" y="4238244"/>
            <a:ext cx="1721998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10.8278%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" y="4571999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" y="4594859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263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72620" y="4571999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64060" y="4594859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34.817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97184" y="4571999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88624" y="4594859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21749" y="4571999"/>
            <a:ext cx="1224564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13189" y="4594859"/>
            <a:ext cx="1041684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2/1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46313" y="4571999"/>
            <a:ext cx="1904878" cy="356616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37753" y="4594859"/>
            <a:ext cx="1721998" cy="31089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17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17344C"/>
                </a:solidFill>
                <a:latin typeface="Noto Sans CJK KR"/>
                <a:ea typeface="Noto Sans CJK KR"/>
              </a:rPr>
              <a:t>10.6557%</a:t>
            </a:r>
          </a:p>
        </p:txBody>
      </p:sp>
      <p:pic>
        <p:nvPicPr>
          <p:cNvPr id="72" name="Picture 71" descr="capacity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136444"/>
            <a:ext cx="6592823" cy="146800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7607808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26680" y="2295144"/>
            <a:ext cx="6446520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탐색당 10·30·60초: 해의 변화 확인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07808" y="2761488"/>
            <a:ext cx="164363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9248" y="2784348"/>
            <a:ext cx="146075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탐색 제한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51442" y="2761488"/>
            <a:ext cx="164363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42882" y="2784348"/>
            <a:ext cx="146075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A km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95076" y="2761488"/>
            <a:ext cx="164363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86515" y="2784348"/>
            <a:ext cx="146075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B km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538709" y="2761488"/>
            <a:ext cx="1643634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630149" y="2784348"/>
            <a:ext cx="1460754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C km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314553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99248" y="316839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10초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51442" y="314553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42882" y="316839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93.826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95076" y="314553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986515" y="316839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34.817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538709" y="314553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630149" y="316839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07808" y="3511296"/>
            <a:ext cx="1643634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99248" y="353415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30초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51442" y="3511296"/>
            <a:ext cx="1643634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42882" y="353415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92.670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895076" y="3511296"/>
            <a:ext cx="1643634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86515" y="353415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34.817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538709" y="3511296"/>
            <a:ext cx="1643634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630149" y="353415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07808" y="387705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9248" y="389991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60초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51442" y="387705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42882" y="389991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92.348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895076" y="387705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86515" y="389991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34.817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538709" y="3877056"/>
            <a:ext cx="1643634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630149" y="3899916"/>
            <a:ext cx="1460754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7344C"/>
                </a:solidFill>
                <a:latin typeface="Noto Sans CJK KR"/>
                <a:ea typeface="Noto Sans CJK KR"/>
              </a:rPr>
              <a:t>31.107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44383" y="4489704"/>
            <a:ext cx="6492240" cy="59436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B/C의 저장 거리는 같고 A는 변한다. 탐색시간 민감도 검토이며 거리의 전역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44C"/>
                </a:solidFill>
                <a:latin typeface="Noto Sans CJK KR"/>
                <a:ea typeface="Noto Sans CJK KR"/>
              </a:rPr>
              <a:t>최적성 증명은 아니다. 시간 제한은 전체 실험이 아니라 탐색당 값이다.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626096" y="5413248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44968" y="5394960"/>
            <a:ext cx="6419088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41개 case · 294개 경로 검산 통과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44383" y="5797296"/>
            <a:ext cx="6501384" cy="8046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PM 정확히 1회 처리 / B·C 동일 수요 / 용량 준수 / 방향별 OD 거리·시간 합 /</a:t>
            </a:r>
          </a:p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이동＋서비스＝총작업시간 / 배터리 종류별 수량 보존. 새 API·Solver 실행 없</a:t>
            </a:r>
          </a:p>
          <a:p>
            <a:pPr algn="l">
              <a:lnSpc>
                <a:spcPts val="1917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17344C"/>
                </a:solidFill>
                <a:latin typeface="Noto Sans CJK KR"/>
                <a:ea typeface="Noto Sans CJK KR"/>
              </a:rPr>
              <a:t>이 저장값을 독립적으로 확인했다.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210312"/>
            <a:ext cx="73152" cy="228600"/>
          </a:xfrm>
          <a:prstGeom prst="rect">
            <a:avLst/>
          </a:prstGeom>
          <a:solidFill>
            <a:srgbClr val="B7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3736"/>
            <a:ext cx="13624560" cy="29260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887"/>
                </a:solidFill>
                <a:latin typeface="Noto Sans CJK KR"/>
                <a:ea typeface="Noto Sans CJK KR"/>
              </a:rPr>
              <a:t>15  |  연구 기여·의사결정 활용·한계  ·  다중 운영사 PM 배터리 공동운송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48640"/>
            <a:ext cx="13825728" cy="46634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44C"/>
                </a:solidFill>
                <a:latin typeface="Noto Sans CJK KR"/>
                <a:ea typeface="Noto Sans CJK KR"/>
              </a:rPr>
              <a:t>결론: 공동운송의 효과와 적용 조건을 판단하는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33856"/>
            <a:ext cx="13789152" cy="110642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SCM의 Pooling 아이디어를 배터리 종류를 유지한 공동운송 모형으로 구체화했다. 같은 수요에서 전환·통합 효과를 분리하고, 실제 공간·도로망의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44C"/>
                </a:solidFill>
                <a:latin typeface="Noto Sans CJK KR"/>
                <a:ea typeface="Noto Sans CJK KR"/>
              </a:rPr>
              <a:t>계산과 가상 조건·민감도·경로 검산을 연결해 적용 가능성을 판단하는 분석체계를 만들었다.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867144"/>
            <a:ext cx="13780008" cy="932688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976872"/>
            <a:ext cx="13459968" cy="75895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결론: 선택된 관측 조건에서 순수 Pooling 거리 10.6557% 감소와 별도 회차 제거를 확인했다. 기존 2~4개사·용량·탐색시간 비교는 적용 조건을 검토</a:t>
            </a:r>
          </a:p>
          <a:p>
            <a:pPr algn="l">
              <a:lnSpc>
                <a:spcPts val="1982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17344C"/>
                </a:solidFill>
                <a:latin typeface="Noto Sans CJK KR"/>
                <a:ea typeface="Noto Sans CJK KR"/>
              </a:rPr>
              <a:t>하는 근거다. 성과는 거리·회차 효율의 조건부 계산평가이며 총운영비·인건비·탄소 감소나 상용 운영 실증으로 확대하지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936992"/>
            <a:ext cx="12847320" cy="21945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029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7887"/>
                </a:solidFill>
                <a:latin typeface="Noto Sans CJK KR"/>
                <a:ea typeface="Noto Sans CJK KR"/>
              </a:rPr>
              <a:t>근거: [D1–D3] 동결 연구결과·모형 가정 / [D4] 최종 Dashboard 저장결과 조회 / [P1] 기존 SCM 대조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2" y="7900416"/>
            <a:ext cx="612648" cy="25603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7"/>
                </a:solidFill>
                <a:latin typeface="Noto Sans CJK KR"/>
                <a:ea typeface="Noto Sans CJK KR"/>
              </a:rPr>
              <a:t>15/15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95144"/>
            <a:ext cx="8375903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무엇을 새로 판단할 수 있게 되었는가?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761488"/>
            <a:ext cx="1693468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784348"/>
            <a:ext cx="1510588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연구의 발전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1524" y="2761488"/>
            <a:ext cx="6773875" cy="384048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2964" y="2784348"/>
            <a:ext cx="6590995" cy="338328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Noto Sans CJK KR"/>
                <a:ea typeface="Noto Sans CJK KR"/>
              </a:rPr>
              <a:t>이번에 확인·구체화한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145536"/>
            <a:ext cx="1693468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168396"/>
            <a:ext cx="1510588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효과 분리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1524" y="3145536"/>
            <a:ext cx="6773875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2964" y="3168396"/>
            <a:ext cx="6590995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A→B 대상 전환 / B→C 순수 Pooling / A→C 전체 도입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3511296"/>
            <a:ext cx="1693468" cy="51206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3566160"/>
            <a:ext cx="1510588" cy="4023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구체적 메커니즘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1524" y="3511296"/>
            <a:ext cx="6773875" cy="512064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2964" y="3566160"/>
            <a:ext cx="6590995" cy="40233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45노드의 기존 방문에 ALPACA 8대 포함, 별도 3.710km 회차 제거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4023360"/>
            <a:ext cx="1693468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4046220"/>
            <a:ext cx="1510588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조건별 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1524" y="4023360"/>
            <a:ext cx="6773875" cy="36576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2964" y="4046220"/>
            <a:ext cx="6590995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운영사 수·구성·공간 혼합, 용량 5수준, 탐색시간 3수준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4389120"/>
            <a:ext cx="1693468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4411980"/>
            <a:ext cx="1510588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결과의 추적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1524" y="4389120"/>
            <a:ext cx="6773875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2964" y="4411980"/>
            <a:ext cx="6590995" cy="32004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878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17344C"/>
                </a:solidFill>
                <a:latin typeface="Noto Sans CJK KR"/>
                <a:ea typeface="Noto Sans CJK KR"/>
              </a:rPr>
              <a:t>원자료→노드→방향 OD→경로→검증→저장·조회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28616"/>
            <a:ext cx="8394192" cy="557784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201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활용: 겹친 방문이 있는 권역과 회차별 적재 여유를 확인하고, 운영사별 분리 경로와 통합 경로의</a:t>
            </a:r>
          </a:p>
          <a:p>
            <a:pPr algn="l">
              <a:lnSpc>
                <a:spcPts val="2019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17344C"/>
                </a:solidFill>
                <a:latin typeface="Noto Sans CJK KR"/>
                <a:ea typeface="Noto Sans CJK KR"/>
              </a:rPr>
              <a:t>거리·회차 차이를 비교하는 의사결정에 사용할 수 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2872" y="2313432"/>
            <a:ext cx="41148" cy="24688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2295144"/>
            <a:ext cx="4782312" cy="347472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계산 결과를 지도·지표로 조회</a:t>
            </a:r>
          </a:p>
        </p:txBody>
      </p:sp>
      <p:pic>
        <p:nvPicPr>
          <p:cNvPr id="35" name="Picture 34" descr="dashboard_observed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095" y="2770632"/>
            <a:ext cx="2589312" cy="21305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99448" y="5111496"/>
            <a:ext cx="4855464" cy="45720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7344C"/>
                </a:solidFill>
                <a:latin typeface="Noto Sans CJK KR"/>
                <a:ea typeface="Noto Sans CJK KR"/>
              </a:rPr>
              <a:t>최종 Dashboard 실제 화면. 저장 결과의 분석 도구이며 실시간 상용</a:t>
            </a:r>
          </a:p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7344C"/>
                </a:solidFill>
                <a:latin typeface="Noto Sans CJK KR"/>
                <a:ea typeface="Noto Sans CJK KR"/>
              </a:rPr>
              <a:t>운영 실증은 아니다.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" y="5586984"/>
            <a:ext cx="2472171" cy="31089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5609844"/>
            <a:ext cx="2289291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Noto Sans CJK KR"/>
                <a:ea typeface="Noto Sans CJK KR"/>
              </a:rPr>
              <a:t>남은 확인 사항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0227" y="5586984"/>
            <a:ext cx="11262116" cy="310896"/>
          </a:xfrm>
          <a:prstGeom prst="rect">
            <a:avLst/>
          </a:prstGeom>
          <a:solidFill>
            <a:srgbClr val="17344C"/>
          </a:solidFill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1667" y="5609844"/>
            <a:ext cx="11079236" cy="265176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671"/>
              </a:lnSpc>
              <a:spcBef>
                <a:spcPts val="0"/>
              </a:spcBef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Noto Sans CJK KR"/>
                <a:ea typeface="Noto Sans CJK KR"/>
              </a:rPr>
              <a:t>현재 연구의 해석 범위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" y="5897880"/>
            <a:ext cx="2472171" cy="3200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5920740"/>
            <a:ext cx="2289291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자료·공간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0227" y="5897880"/>
            <a:ext cx="11262116" cy="3200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1667" y="5920740"/>
            <a:ext cx="11079236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선택된 단일 권역·관측시각 미상 / 가상 Depot·대표점 주정차 미검증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6217920"/>
            <a:ext cx="2472171" cy="3200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" y="6240780"/>
            <a:ext cx="2289291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물리적 운영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0227" y="6217920"/>
            <a:ext cx="11262116" cy="320040"/>
          </a:xfrm>
          <a:prstGeom prst="rect">
            <a:avLst/>
          </a:prstGeom>
          <a:solidFill>
            <a:srgbClr val="FFFFFF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1667" y="6240780"/>
            <a:ext cx="11079236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실차 부피·랙·포장·종류별 보관 / 준비재고·실제 작업·보행시간 미실증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" y="6537959"/>
            <a:ext cx="2472171" cy="3200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6560820"/>
            <a:ext cx="2289291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적용·해석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0227" y="6537959"/>
            <a:ext cx="11262116" cy="320040"/>
          </a:xfrm>
          <a:prstGeom prst="rect">
            <a:avLst/>
          </a:prstGeom>
          <a:solidFill>
            <a:srgbClr val="F0F4F6"/>
          </a:solidFill>
          <a:ln w="8255">
            <a:solidFill>
              <a:srgbClr val="D1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1667" y="6560820"/>
            <a:ext cx="11079236" cy="274320"/>
          </a:xfrm>
          <a:prstGeom prst="rect">
            <a:avLst/>
          </a:prstGeom>
          <a:noFill/>
        </p:spPr>
        <p:txBody>
          <a:bodyPr wrap="none" lIns="13716" rIns="13716" tIns="7315" bIns="7315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44C"/>
                </a:solidFill>
                <a:latin typeface="Noto Sans CJK KR"/>
                <a:ea typeface="Noto Sans CJK KR"/>
              </a:rPr>
              <a:t>운영사 간 작업권한·책임·정산 확인 필요 / 가상조건은 실제 성과·독립 통계표본이 아님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다중 운영사 공유 PM Battery Pooling 기반 통합 회수·교환 최적화 시스템 — 보고서형 본문 15장</dc:title>
  <dc:subject>배경·문제 정의·시스템 제안·도로망 기반 비교·가상실험·민감도 해석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